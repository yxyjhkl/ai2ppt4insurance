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开场：感谢各位领导参加本次年度总结会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E40AF"/>
                </a:solidFill>
              </a:defRPr>
            </a:pPr>
            <a:r>
              <a:t>2025 年度业务技术总结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4747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F2937"/>
                </a:solidFill>
              </a:defRPr>
            </a:pPr>
            <a:r>
              <a:t>产品中心 · 2026年1月 · 机密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291840"/>
            <a:ext cx="27432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执行摘要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22960"/>
            <a:ext cx="1124712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F2937"/>
                </a:solidFill>
              </a:defRPr>
            </a:pPr>
            <a:r>
              <a:t>• 全年营收突破 12.8 亿，同比增长 34%</a:t>
            </a:r>
          </a:p>
          <a:p>
            <a:pPr>
              <a:defRPr sz="1600" b="0">
                <a:solidFill>
                  <a:srgbClr val="1F2937"/>
                </a:solidFill>
              </a:defRPr>
            </a:pPr>
            <a:r>
              <a:t>• 用户数达到 580 万，DAU 突破 120 万</a:t>
            </a:r>
          </a:p>
          <a:p>
            <a:pPr>
              <a:defRPr sz="1600" b="0">
                <a:solidFill>
                  <a:srgbClr val="1F2937"/>
                </a:solidFill>
              </a:defRPr>
            </a:pPr>
            <a:r>
              <a:t>• 发布 3 款新产品，NPS 评分提升至 72 分</a:t>
            </a:r>
          </a:p>
          <a:p>
            <a:pPr>
              <a:defRPr sz="1600" b="0">
                <a:solidFill>
                  <a:srgbClr val="1F2937"/>
                </a:solidFill>
              </a:defRPr>
            </a:pPr>
            <a:r>
              <a:t>• 团队从 45 人扩展至 120 人，核心人才留存率 94%</a:t>
            </a:r>
          </a:p>
          <a:p>
            <a:pPr>
              <a:defRPr sz="1600" b="0">
                <a:solidFill>
                  <a:srgbClr val="1F2937"/>
                </a:solidFill>
              </a:defRPr>
            </a:pPr>
            <a:r>
              <a:t>• 获评 Gartner Cool Vendor，行业影响力显著提升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200" b="1">
                <a:solidFill>
                  <a:srgbClr val="FFFFFF"/>
                </a:solidFill>
              </a:defRPr>
            </a:pPr>
            <a: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93C5FD"/>
                </a:solidFill>
              </a:defRPr>
            </a:pPr>
            <a:r>
              <a:t>业务数据深度分析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017520"/>
            <a:ext cx="2286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各业务线核心指标对比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097280"/>
          <a:ext cx="103327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6544"/>
                <a:gridCol w="2066544"/>
                <a:gridCol w="2066544"/>
                <a:gridCol w="2066544"/>
                <a:gridCol w="2066544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业务线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Q3营收(万)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Q4营收(万)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环比增长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SaaS平台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3,200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4,150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+29.7%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✅ 达标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企业定制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2,100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2,850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+35.7%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✅ 达标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数据服务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1,600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1,420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-11.3%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🟡 关注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技术咨询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-18.8%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🔴 未达标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培训认证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450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580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+28.9%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✅ 达标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SaaS平台 vs 企业定制 对比分析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5303520" cy="4572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43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40AF"/>
                </a:solidFill>
              </a:defRPr>
            </a:pPr>
            <a:r>
              <a:t>左侧内容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097280"/>
            <a:ext cx="5303520" cy="4572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143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40AF"/>
                </a:solidFill>
              </a:defRPr>
            </a:pPr>
            <a:r>
              <a:t>右侧内容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097280"/>
            <a:ext cx="9144" cy="475488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F2937"/>
                </a:solidFill>
              </a:defRPr>
            </a:pPr>
            <a:r>
              <a:t>• ARR 同比增长 52%，续费率 96%</a:t>
            </a:r>
          </a:p>
          <a:p>
            <a:pPr>
              <a:defRPr sz="1400" b="0">
                <a:solidFill>
                  <a:srgbClr val="1F2937"/>
                </a:solidFill>
              </a:defRPr>
            </a:pPr>
            <a:r>
              <a:t>• 客单价 ¥38,000/年，获客成本降低 18%</a:t>
            </a:r>
          </a:p>
          <a:p>
            <a:pPr>
              <a:defRPr sz="1400" b="0">
                <a:solidFill>
                  <a:srgbClr val="1F2937"/>
                </a:solidFill>
              </a:defRPr>
            </a:pPr>
            <a:r>
              <a:t>• 新增功能 47 个，用户满意度 4.8/5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F2937"/>
                </a:solidFill>
              </a:defRPr>
            </a:pPr>
            <a:r>
              <a:t>• 项目交付周期缩短至 45 天（原 90 天）</a:t>
            </a:r>
          </a:p>
          <a:p>
            <a:pPr>
              <a:defRPr sz="1400" b="0">
                <a:solidFill>
                  <a:srgbClr val="1F2937"/>
                </a:solidFill>
              </a:defRPr>
            </a:pPr>
            <a:r>
              <a:t>• 客单价 ¥280,000/年，毛利率 62%</a:t>
            </a:r>
          </a:p>
          <a:p>
            <a:pPr>
              <a:defRPr sz="1400" b="0">
                <a:solidFill>
                  <a:srgbClr val="1F2937"/>
                </a:solidFill>
              </a:defRPr>
            </a:pPr>
            <a:r>
              <a:t>• 中标率提升至 38%（行业平均 22%）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季度KPI达成情况矩阵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097280"/>
          <a:ext cx="103327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6544"/>
                <a:gridCol w="2066544"/>
                <a:gridCol w="2066544"/>
                <a:gridCol w="2066544"/>
                <a:gridCol w="2066544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KPI指标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目标值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实际值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达成率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评级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营收增长率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34%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136%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🟢 优秀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用户增长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400万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580万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🟢 优秀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客户满意度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4.5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4.6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102%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🟢 达标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技术债务清理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🟡 预警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人才密度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80%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72%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90%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🟡 预警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200" b="1">
                <a:solidFill>
                  <a:srgbClr val="FFFFFF"/>
                </a:solidFill>
              </a:defRPr>
            </a:pPr>
            <a: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93C5FD"/>
                </a:solidFill>
              </a:defRPr>
            </a:pPr>
            <a:r>
              <a:t>技术架构与代码成果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017520"/>
            <a:ext cx="2286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核心API网关配置示例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97280"/>
            <a:ext cx="1106424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5E7EB"/>
                </a:solidFill>
              </a:defRPr>
            </a:pPr>
            <a:r>
              <a:t>apiVersion: gateway.example.com/v1</a:t>
            </a:r>
          </a:p>
          <a:p>
            <a:pPr>
              <a:defRPr sz="1400" b="0">
                <a:solidFill>
                  <a:srgbClr val="E5E7EB"/>
                </a:solidFill>
              </a:defRPr>
            </a:pPr>
            <a:r>
              <a:t>kind: Gateway</a:t>
            </a:r>
          </a:p>
          <a:p>
            <a:pPr>
              <a:defRPr sz="1400" b="0">
                <a:solidFill>
                  <a:srgbClr val="E5E7EB"/>
                </a:solidFill>
              </a:defRPr>
            </a:pPr>
            <a:r>
              <a:t>metadata:</a:t>
            </a:r>
          </a:p>
          <a:p>
            <a:pPr>
              <a:defRPr sz="1400" b="0">
                <a:solidFill>
                  <a:srgbClr val="E5E7EB"/>
                </a:solidFill>
              </a:defRPr>
            </a:pPr>
            <a:r>
              <a:t>  name: production-gateway</a:t>
            </a:r>
          </a:p>
          <a:p>
            <a:pPr>
              <a:defRPr sz="1400" b="0">
                <a:solidFill>
                  <a:srgbClr val="E5E7EB"/>
                </a:solidFill>
              </a:defRPr>
            </a:pPr>
            <a:r>
              <a:t>  namespace: prod-infra</a:t>
            </a:r>
          </a:p>
          <a:p>
            <a:pPr>
              <a:defRPr sz="1400" b="0">
                <a:solidFill>
                  <a:srgbClr val="E5E7EB"/>
                </a:solidFill>
              </a:defRPr>
            </a:pPr>
            <a:r>
              <a:t>spec:</a:t>
            </a:r>
          </a:p>
          <a:p>
            <a:pPr>
              <a:defRPr sz="1400" b="0">
                <a:solidFill>
                  <a:srgbClr val="E5E7EB"/>
                </a:solidFill>
              </a:defRPr>
            </a:pPr>
            <a:r>
              <a:t>  replicas: 6</a:t>
            </a:r>
          </a:p>
          <a:p>
            <a:pPr>
              <a:defRPr sz="1400" b="0">
                <a:solidFill>
                  <a:srgbClr val="E5E7EB"/>
                </a:solidFill>
              </a:defRPr>
            </a:pPr>
            <a:r>
              <a:t>  resources:</a:t>
            </a:r>
          </a:p>
          <a:p>
            <a:pPr>
              <a:defRPr sz="1400" b="0">
                <a:solidFill>
                  <a:srgbClr val="E5E7EB"/>
                </a:solidFill>
              </a:defRPr>
            </a:pPr>
            <a:r>
              <a:t>    cpu: 4000m</a:t>
            </a:r>
          </a:p>
          <a:p>
            <a:pPr>
              <a:defRPr sz="1400" b="0">
                <a:solidFill>
                  <a:srgbClr val="E5E7EB"/>
                </a:solidFill>
              </a:defRPr>
            </a:pPr>
            <a:r>
              <a:t>    memory: 8Gi</a:t>
            </a:r>
          </a:p>
          <a:p>
            <a:pPr>
              <a:defRPr sz="1400" b="0">
                <a:solidFill>
                  <a:srgbClr val="E5E7EB"/>
                </a:solidFill>
              </a:defRPr>
            </a:pPr>
            <a:r>
              <a:t>  rateLimit:</a:t>
            </a:r>
          </a:p>
          <a:p>
            <a:pPr>
              <a:defRPr sz="1400" b="0">
                <a:solidFill>
                  <a:srgbClr val="E5E7EB"/>
                </a:solidFill>
              </a:defRPr>
            </a:pPr>
            <a:r>
              <a:t>    maxQPS: 50000</a:t>
            </a:r>
          </a:p>
          <a:p>
            <a:pPr>
              <a:defRPr sz="1400" b="0">
                <a:solidFill>
                  <a:srgbClr val="E5E7EB"/>
                </a:solidFill>
              </a:defRPr>
            </a:pPr>
            <a:r>
              <a:t>    burst: 10000</a:t>
            </a:r>
          </a:p>
          <a:p>
            <a:pPr>
              <a:defRPr sz="1400" b="0">
                <a:solidFill>
                  <a:srgbClr val="E5E7EB"/>
                </a:solidFill>
              </a:defRPr>
            </a:pPr>
            <a:r>
              <a:t>  observability:</a:t>
            </a:r>
          </a:p>
          <a:p>
            <a:pPr>
              <a:defRPr sz="1400" b="0">
                <a:solidFill>
                  <a:srgbClr val="E5E7EB"/>
                </a:solidFill>
              </a:defRPr>
            </a:pPr>
            <a:r>
              <a:t>    tracing: enabled</a:t>
            </a:r>
          </a:p>
          <a:p>
            <a:pPr>
              <a:defRPr sz="1400" b="0">
                <a:solidFill>
                  <a:srgbClr val="E5E7EB"/>
                </a:solidFill>
              </a:defRPr>
            </a:pPr>
            <a:r>
              <a:t>    metricsExport: prometheus</a:t>
            </a:r>
          </a:p>
          <a:p>
            <a:pPr>
              <a:defRPr sz="1400" b="0">
                <a:solidFill>
                  <a:srgbClr val="E5E7EB"/>
                </a:solidFill>
              </a:defRPr>
            </a:pPr>
            <a:r>
              <a:t>    logLevel: info</a:t>
            </a:r>
          </a:p>
          <a:p>
            <a:pPr>
              <a:defRPr sz="1400" b="0">
                <a:solidFill>
                  <a:srgbClr val="E5E7EB"/>
                </a:solidFill>
              </a:defRPr>
            </a:pPr>
            <a:r>
              <a:t>  security:</a:t>
            </a:r>
          </a:p>
          <a:p>
            <a:pPr>
              <a:defRPr sz="1400" b="0">
                <a:solidFill>
                  <a:srgbClr val="E5E7EB"/>
                </a:solidFill>
              </a:defRPr>
            </a:pPr>
            <a:r>
              <a:t>    mtlsEnabled: true</a:t>
            </a:r>
          </a:p>
          <a:p>
            <a:pPr>
              <a:defRPr sz="1400" b="0">
                <a:solidFill>
                  <a:srgbClr val="E5E7EB"/>
                </a:solidFill>
              </a:defRPr>
            </a:pPr>
            <a:r>
              <a:t>    jwtValidation: RS256</a:t>
            </a:r>
          </a:p>
          <a:p>
            <a:pPr>
              <a:defRPr sz="1400" b="0">
                <a:solidFill>
                  <a:srgbClr val="E5E7EB"/>
                </a:solidFill>
              </a:defRPr>
            </a:pPr>
            <a:r>
              <a:t>    certificateIssuer: cert-manager-v2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行业评价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645920"/>
            <a:ext cx="10332720" cy="3840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645920"/>
            <a:ext cx="73152" cy="3840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01168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0">
                <a:solidFill>
                  <a:srgbClr val="1E40AF"/>
                </a:solidFill>
              </a:defRPr>
            </a:pPr>
            <a:r>
              <a:t>"该公司在过去12个月内完成了令人瞩目的技术转型，其API网关架构已成为行业最佳实践参考"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5720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F2937"/>
                </a:solidFill>
              </a:defRPr>
            </a:pPr>
            <a:r>
              <a:t>— Gartner Magic Quadrant Report, 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技术债务清理：Before vs After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5120640" cy="384048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120640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Before / 之前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7F1D1D"/>
                </a:solidFill>
              </a:defRPr>
            </a:pPr>
            <a:r>
              <a:t>• 🔴 单体应用 23万行代码，部署周期 2周</a:t>
            </a:r>
          </a:p>
          <a:p>
            <a:pPr>
              <a:defRPr sz="1300" b="0">
                <a:solidFill>
                  <a:srgbClr val="7F1D1D"/>
                </a:solidFill>
              </a:defRPr>
            </a:pPr>
            <a:r>
              <a:t>• 🔴 测试覆盖率 23%，线上事故月均 7次</a:t>
            </a:r>
          </a:p>
          <a:p>
            <a:pPr>
              <a:defRPr sz="1300" b="0">
                <a:solidFill>
                  <a:srgbClr val="7F1D1D"/>
                </a:solidFill>
              </a:defRPr>
            </a:pPr>
            <a:r>
              <a:t>• 🔴 接口平均响应时间 850ms，P99 达 3.2s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280160"/>
            <a:ext cx="5120640" cy="384048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280160"/>
            <a:ext cx="5120640" cy="457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325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After / 之后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92024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64E3B"/>
                </a:solidFill>
              </a:defRPr>
            </a:pPr>
            <a:r>
              <a:t>• ✅ 拆分为 47 个微服务，CI/CD 全自动化</a:t>
            </a:r>
          </a:p>
          <a:p>
            <a:pPr>
              <a:defRPr sz="1300" b="0">
                <a:solidFill>
                  <a:srgbClr val="064E3B"/>
                </a:solidFill>
              </a:defRPr>
            </a:pPr>
            <a:r>
              <a:t>• ✅ 测试覆盖率 82%，线上事故降至月均 1.3次</a:t>
            </a:r>
          </a:p>
          <a:p>
            <a:pPr>
              <a:defRPr sz="1300" b="0">
                <a:solidFill>
                  <a:srgbClr val="064E3B"/>
                </a:solidFill>
              </a:defRPr>
            </a:pPr>
            <a:r>
              <a:t>• ✅ 接口平均响应时间 120ms，P99 降至 380ms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760720" y="2743200"/>
            <a:ext cx="320040" cy="320040"/>
          </a:xfrm>
          <a:prstGeom prst="rightArrow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2026 年三大战略方向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3474720" cy="47548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F2937"/>
                </a:solidFill>
              </a:defRPr>
            </a:pPr>
            <a:r>
              <a:t>• 【AI 赋能】</a:t>
            </a:r>
          </a:p>
          <a:p>
            <a:pPr>
              <a:defRPr sz="1300" b="0">
                <a:solidFill>
                  <a:srgbClr val="1F2937"/>
                </a:solidFill>
              </a:defRPr>
            </a:pPr>
            <a:r>
              <a:t>· 发布 AI Copilot 功能</a:t>
            </a:r>
          </a:p>
          <a:p>
            <a:pPr>
              <a:defRPr sz="1300" b="0">
                <a:solidFill>
                  <a:srgbClr val="1F2937"/>
                </a:solidFill>
              </a:defRPr>
            </a:pPr>
            <a:r>
              <a:t>· 智能数据分析引擎</a:t>
            </a:r>
          </a:p>
          <a:p>
            <a:pPr>
              <a:defRPr sz="1300" b="0">
                <a:solidFill>
                  <a:srgbClr val="1F2937"/>
                </a:solidFill>
              </a:defRPr>
            </a:pPr>
            <a:r>
              <a:t>· 自动化测试覆盖率提升至 95%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097280"/>
            <a:ext cx="3474720" cy="47548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28016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F2937"/>
                </a:solidFill>
              </a:defRPr>
            </a:pPr>
            <a:r>
              <a:t>• 【生态建设】</a:t>
            </a:r>
          </a:p>
          <a:p>
            <a:pPr>
              <a:defRPr sz="1300" b="0">
                <a:solidFill>
                  <a:srgbClr val="1F2937"/>
                </a:solidFill>
              </a:defRPr>
            </a:pPr>
            <a:r>
              <a:t>· 开放平台 API 增至 200+</a:t>
            </a:r>
          </a:p>
          <a:p>
            <a:pPr>
              <a:defRPr sz="1300" b="0">
                <a:solidFill>
                  <a:srgbClr val="1F2937"/>
                </a:solidFill>
              </a:defRPr>
            </a:pPr>
            <a:r>
              <a:t>· 合作伙伴达到 50 家</a:t>
            </a:r>
          </a:p>
          <a:p>
            <a:pPr>
              <a:defRPr sz="1300" b="0">
                <a:solidFill>
                  <a:srgbClr val="1F2937"/>
                </a:solidFill>
              </a:defRPr>
            </a:pPr>
            <a:r>
              <a:t>· 开发者社区突破 10 万人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097280"/>
            <a:ext cx="3474720" cy="47548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28016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F2937"/>
                </a:solidFill>
              </a:defRPr>
            </a:pPr>
            <a:r>
              <a:t>• 【国际化】</a:t>
            </a:r>
          </a:p>
          <a:p>
            <a:pPr>
              <a:defRPr sz="1300" b="0">
                <a:solidFill>
                  <a:srgbClr val="1F2937"/>
                </a:solidFill>
              </a:defRPr>
            </a:pPr>
            <a:r>
              <a:t>· 拓展东南亚市场</a:t>
            </a:r>
          </a:p>
          <a:p>
            <a:pPr>
              <a:defRPr sz="1300" b="0">
                <a:solidFill>
                  <a:srgbClr val="1F2937"/>
                </a:solidFill>
              </a:defRPr>
            </a:pPr>
            <a:r>
              <a:t>· 产品多语言支持</a:t>
            </a:r>
          </a:p>
          <a:p>
            <a:pPr>
              <a:defRPr sz="1300" b="0">
                <a:solidFill>
                  <a:srgbClr val="1F2937"/>
                </a:solidFill>
              </a:defRPr>
            </a:pPr>
            <a:r>
              <a:t>· 海外营收占比提升至 20%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1097280"/>
            <a:ext cx="9144" cy="475488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097280"/>
            <a:ext cx="9144" cy="475488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关键风险与应对措施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22960"/>
            <a:ext cx="1124712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F2937"/>
                </a:solidFill>
              </a:defRPr>
            </a:pPr>
            <a:r>
              <a:t>• 🔴【高风险】技术人才竞争加剧 — 应对：启动股权激励计划，与3所高校建立联合实验室</a:t>
            </a:r>
          </a:p>
          <a:p>
            <a:pPr>
              <a:defRPr sz="1600" b="0">
                <a:solidFill>
                  <a:srgbClr val="1F2937"/>
                </a:solidFill>
              </a:defRPr>
            </a:pPr>
            <a:r>
              <a:t>• 🟡【中风险】海外市场合规成本超预期 — 应对：聘请当地法务顾问，分阶段进入</a:t>
            </a:r>
          </a:p>
          <a:p>
            <a:pPr>
              <a:defRPr sz="1600" b="0">
                <a:solidFill>
                  <a:srgbClr val="1F2937"/>
                </a:solidFill>
              </a:defRPr>
            </a:pPr>
            <a:r>
              <a:t>• 🟡【中风险】AI技术迭代速度不及预期 — 应对：与2家AI初创建立技术合作</a:t>
            </a:r>
          </a:p>
          <a:p>
            <a:pPr>
              <a:defRPr sz="1600" b="0">
                <a:solidFill>
                  <a:srgbClr val="1F2937"/>
                </a:solidFill>
              </a:defRPr>
            </a:pPr>
            <a:r>
              <a:t>• 🟢【低风险】数据安全审计 — 应对：已通过 ISO 27001 认证，定期渗透测试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E40AF"/>
                </a:solidFill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F2937"/>
                </a:solidFill>
              </a:defRPr>
            </a:pPr>
            <a:r>
              <a:t>2026 年目标：营收突破 20 亿，用户突破 1000 万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4572000"/>
            <a:ext cx="6675120" cy="1371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4754880"/>
            <a:ext cx="5760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F2937"/>
                </a:solidFill>
              </a:defRPr>
            </a:pPr>
            <a:r>
              <a:t>联系人：产品中心负责人</a:t>
            </a:r>
          </a:p>
          <a:p>
            <a:pPr algn="ctr">
              <a:defRPr sz="1400" b="0">
                <a:solidFill>
                  <a:srgbClr val="1F2937"/>
                </a:solidFill>
              </a:defRPr>
            </a:pPr>
            <a:r>
              <a:t>邮箱：product@example.com</a:t>
            </a:r>
          </a:p>
          <a:p>
            <a:pPr algn="ctr">
              <a:defRPr sz="1400" b="0">
                <a:solidFill>
                  <a:srgbClr val="1F2937"/>
                </a:solidFill>
              </a:defRPr>
            </a:pPr>
            <a:r>
              <a:t>手机：138-0000-0000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