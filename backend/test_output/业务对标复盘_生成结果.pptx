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E40AF"/>
                </a:solidFill>
              </a:defRPr>
            </a:pPr>
            <a:r>
              <a:t>业务对标复盘会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4747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F2937"/>
                </a:solidFill>
              </a:defRPr>
            </a:pPr>
            <a:r>
              <a:t>机构名称: 深圳福田支公司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291840"/>
            <a:ext cx="27432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会议议程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22960"/>
            <a:ext cx="1124712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F2937"/>
                </a:solidFill>
              </a:defRPr>
            </a:pPr>
            <a:r>
              <a:t>• 1. 关键指标仪表盘</a:t>
            </a:r>
          </a:p>
          <a:p>
            <a:pPr>
              <a:defRPr sz="1600" b="0">
                <a:solidFill>
                  <a:srgbClr val="1F2937"/>
                </a:solidFill>
              </a:defRPr>
            </a:pPr>
            <a:r>
              <a:t>• 2. 队伍KPI分析</a:t>
            </a:r>
          </a:p>
          <a:p>
            <a:pPr>
              <a:defRPr sz="1600" b="0">
                <a:solidFill>
                  <a:srgbClr val="1F2937"/>
                </a:solidFill>
              </a:defRPr>
            </a:pPr>
            <a:r>
              <a:t>• 3. 继续率与内涵价值</a:t>
            </a:r>
          </a:p>
          <a:p>
            <a:pPr>
              <a:defRPr sz="1600" b="0">
                <a:solidFill>
                  <a:srgbClr val="1F2937"/>
                </a:solidFill>
              </a:defRPr>
            </a:pPr>
            <a:r>
              <a:t>• 4. 荣誉展示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关键指标仪表盘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097280"/>
          <a:ext cx="1033272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6544"/>
                <a:gridCol w="2066544"/>
                <a:gridCol w="2066544"/>
                <a:gridCol w="2066544"/>
                <a:gridCol w="2066544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机构名称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当月保费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保费达成率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承保件数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同比增长率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深圳福田支公司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2,350.80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118.6%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480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18.9%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北京朝阳支公司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1,850.50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105.2%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12.3%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成都锦江支公司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1,450.60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98.5%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290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6.8%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杭州西湖支公司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1,280.30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92.0%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255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3.2%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广州天河支公司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1,100.20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85.1%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220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-3.5%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上海浦东支公司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980.50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82.3%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-5.8%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武汉洪山支公司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890.30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78.2%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180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-8.1%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重庆渝北支公司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820.60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75.5%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-9.2%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南京鼓楼支公司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720.40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68.2%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-11.5%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郑州金水支公司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580.80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58.5%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-15.2%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队伍KPI分析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097280"/>
          <a:ext cx="1033272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180"/>
                <a:gridCol w="2583180"/>
                <a:gridCol w="2583180"/>
                <a:gridCol w="258318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机构名称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活动率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队伍人数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人均产能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深圳福田支公司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82.3%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42.74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北京朝阳支公司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78.5%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38.55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成都锦江支公司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72.8%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34.54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杭州西湖支公司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70.1%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33.69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广州天河支公司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65.2%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31.43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上海浦东支公司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68.5%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27.24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武汉洪山支公司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62.1%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27.82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重庆渝北支公司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60.8%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27.35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南京鼓楼支公司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55.4%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25.73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郑州金水支公司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52.1%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23.23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继续率与内涵价值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097280"/>
          <a:ext cx="1033272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4240"/>
                <a:gridCol w="3444240"/>
                <a:gridCol w="344424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机构名称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13个月继续率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25个月继续率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深圳福田支公司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96.5%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93.2%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北京朝阳支公司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95.2%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91.8%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成都锦江支公司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94.1%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90.3%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杭州西湖支公司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93.8%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89.5%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广州天河支公司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92.1%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88.5%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上海浦东支公司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90.5%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86.2%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武汉洪山支公司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91.2%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87.8%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重庆渝北支公司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89.8%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85.6%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南京鼓楼支公司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88.5%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84.1%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郑州金水支公司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87.3%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83.2%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投产比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5303520" cy="4572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43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40AF"/>
                </a:solidFill>
              </a:defRPr>
            </a:pPr>
            <a:r>
              <a:t>左侧内容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097280"/>
            <a:ext cx="5303520" cy="4572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143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40AF"/>
                </a:solidFill>
              </a:defRPr>
            </a:pPr>
            <a:r>
              <a:t>右侧内容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097280"/>
            <a:ext cx="9144" cy="475488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F2937"/>
                </a:solidFill>
              </a:defRPr>
            </a:pPr>
            <a:r>
              <a:t>• 0.72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F2937"/>
                </a:solidFill>
              </a:defRPr>
            </a:pPr>
            <a:r>
              <a:t>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荣誉达成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5120640" cy="384048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120640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Before / 之前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7F1D1D"/>
                </a:solidFill>
              </a:defRPr>
            </a:pPr>
            <a:r>
              <a:t>• IDA x3, MDRT x2, MCI x1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280160"/>
            <a:ext cx="5120640" cy="384048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280160"/>
            <a:ext cx="5120640" cy="457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325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After / 之后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92024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64E3B"/>
                </a:solidFill>
              </a:defRPr>
            </a:pPr>
            <a:r>
              <a:t> 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760720" y="2743200"/>
            <a:ext cx="320040" cy="320040"/>
          </a:xfrm>
          <a:prstGeom prst="rightArrow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荣誉展示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5303520" cy="4572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43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40AF"/>
                </a:solidFill>
              </a:defRPr>
            </a:pPr>
            <a:r>
              <a:t>左侧内容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097280"/>
            <a:ext cx="5303520" cy="4572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143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40AF"/>
                </a:solidFill>
              </a:defRPr>
            </a:pPr>
            <a:r>
              <a:t>右侧内容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097280"/>
            <a:ext cx="9144" cy="475488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F2937"/>
                </a:solidFill>
              </a:defRPr>
            </a:pPr>
            <a:r>
              <a:t>• 深圳福田支公司</a:t>
            </a:r>
          </a:p>
          <a:p>
            <a:pPr>
              <a:defRPr sz="1400" b="0">
                <a:solidFill>
                  <a:srgbClr val="1F2937"/>
                </a:solidFill>
              </a:defRPr>
            </a:pPr>
            <a:r>
              <a:t>• IDA x3, MDRT x2, MCI x1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F2937"/>
                </a:solidFill>
              </a:defRPr>
            </a:pPr>
            <a:r>
              <a:t>• 深圳福田支公司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E40AF"/>
                </a:solidFill>
              </a:defRPr>
            </a:pPr>
            <a:r>
              <a:t>总结与下一步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4572000"/>
            <a:ext cx="6675120" cy="1371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0" y="4754880"/>
            <a:ext cx="5760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F2937"/>
                </a:solidFill>
              </a:defRPr>
            </a:pPr>
            <a:r>
              <a:t>数据驱动决策，持续追踪改善</a:t>
            </a:r>
          </a:p>
          <a:p>
            <a:pPr algn="ctr">
              <a:defRPr sz="1400" b="0">
                <a:solidFill>
                  <a:srgbClr val="1F2937"/>
                </a:solidFill>
              </a:defRPr>
            </a:pPr>
            <a:r>
              <a:t>明确改进方向，落实行动方案</a:t>
            </a:r>
          </a:p>
          <a:p>
            <a:pPr algn="ctr">
              <a:defRPr sz="1400" b="0">
                <a:solidFill>
                  <a:srgbClr val="1F2937"/>
                </a:solidFill>
              </a:defRPr>
            </a:pPr>
            <a:r>
              <a:t>感谢聆听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