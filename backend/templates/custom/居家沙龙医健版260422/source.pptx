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8" Type="http://schemas.openxmlformats.org/officeDocument/2006/relationships/viewProps" Target="viewProps.xml"/><Relationship Id="rId27" Type="http://schemas.openxmlformats.org/officeDocument/2006/relationships/tableStyles" Target="tableStyles.xml"/><Relationship Id="rId26" Type="http://schemas.openxmlformats.org/officeDocument/2006/relationships/presProps" Target="presProps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30.jpeg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jpeg"/><Relationship Id="rId8" Type="http://schemas.openxmlformats.org/officeDocument/2006/relationships/image" Target="../media/image39.png"/><Relationship Id="rId7" Type="http://schemas.openxmlformats.org/officeDocument/2006/relationships/image" Target="../media/image38.jpeg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4" Type="http://schemas.openxmlformats.org/officeDocument/2006/relationships/image" Target="../media/image43.jpeg"/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6.png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7" Type="http://schemas.openxmlformats.org/officeDocument/2006/relationships/image" Target="../media/image62.jpeg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jpeg"/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00062" y="472018"/>
            <a:ext cx="11178540" cy="5935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600" b="1" kern="0" spc="5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中国平安</a:t>
            </a:r>
            <a:r>
              <a:rPr sz="2600" kern="0" spc="-63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b="1" kern="0" spc="0" dirty="0">
                <a:solidFill>
                  <a:srgbClr val="F04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PING</a:t>
            </a:r>
            <a:r>
              <a:rPr sz="2600" b="1" kern="0" spc="570" dirty="0">
                <a:solidFill>
                  <a:srgbClr val="F04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0" dirty="0">
                <a:solidFill>
                  <a:srgbClr val="F04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2600" b="1" kern="0" spc="50" dirty="0">
                <a:solidFill>
                  <a:srgbClr val="F04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</a:t>
            </a:r>
            <a:r>
              <a:rPr sz="2600" b="1" kern="0" spc="40" dirty="0">
                <a:solidFill>
                  <a:srgbClr val="F04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4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专业让生活更简单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312420" algn="l" rtl="0" eaLnBrk="0">
              <a:lnSpc>
                <a:spcPts val="1251"/>
              </a:lnSpc>
              <a:spcBef>
                <a:spcPts val="175"/>
              </a:spcBef>
              <a:tabLst/>
            </a:pPr>
            <a:r>
              <a:rPr sz="1000" kern="0" spc="-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</a:t>
            </a:r>
            <a:r>
              <a:rPr sz="1000" kern="0" spc="-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·价值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36319" algn="l" rtl="0" eaLnBrk="0">
              <a:lnSpc>
                <a:spcPts val="11140"/>
              </a:lnSpc>
              <a:spcBef>
                <a:spcPts val="2675"/>
              </a:spcBef>
              <a:tabLst/>
            </a:pPr>
            <a:r>
              <a:rPr sz="8900" kern="0" spc="-720" dirty="0">
                <a:solidFill>
                  <a:srgbClr val="C08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爱</a:t>
            </a:r>
            <a:r>
              <a:rPr sz="8200" kern="0" spc="-720" dirty="0">
                <a:solidFill>
                  <a:srgbClr val="C08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在平安</a:t>
            </a:r>
            <a:r>
              <a:rPr sz="8200" b="1" kern="0" spc="-720" dirty="0">
                <a:solidFill>
                  <a:srgbClr val="D08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家舒</a:t>
            </a:r>
            <a:r>
              <a:rPr sz="8200" kern="0" spc="-720" dirty="0">
                <a:solidFill>
                  <a:srgbClr val="C08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心享长寿</a:t>
            </a:r>
            <a:endParaRPr sz="8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8938894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</a:t>
            </a:r>
            <a:r>
              <a:rPr sz="1700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</a:t>
            </a:r>
            <a:r>
              <a:rPr sz="1700" kern="0" spc="-14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</a:t>
            </a:r>
            <a:r>
              <a:rPr sz="1700" kern="0" spc="-15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</a:t>
            </a:r>
            <a:r>
              <a:rPr sz="1700" kern="0" spc="-20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</a:t>
            </a:r>
            <a:r>
              <a:rPr sz="1700" kern="0" spc="-23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寿</a:t>
            </a:r>
            <a:r>
              <a:rPr sz="1700" kern="0" spc="-23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保</a:t>
            </a:r>
            <a:r>
              <a:rPr sz="1700" kern="0" spc="-15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20" dirty="0">
                <a:solidFill>
                  <a:srgbClr val="F04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739899" y="1736026"/>
            <a:ext cx="3787140" cy="3304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8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38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你想长寿吗?但……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0550" algn="l" rtl="0" eaLnBrk="0">
              <a:lnSpc>
                <a:spcPct val="86000"/>
              </a:lnSpc>
              <a:spcBef>
                <a:spcPts val="1021"/>
              </a:spcBef>
              <a:tabLst/>
            </a:pPr>
            <a:r>
              <a:rPr sz="3400" kern="0" spc="-1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如何保持活力?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608965" indent="-18415" algn="l" rtl="0" eaLnBrk="0">
              <a:lnSpc>
                <a:spcPct val="142000"/>
              </a:lnSpc>
              <a:spcBef>
                <a:spcPts val="22"/>
              </a:spcBef>
              <a:tabLst/>
            </a:pPr>
            <a:r>
              <a:rPr sz="3400" kern="0" spc="-1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怎样抵御疾病?</a:t>
            </a:r>
            <a:r>
              <a:rPr sz="3400" kern="0" spc="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3400" kern="0" spc="-1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可否减少就医?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1899859" y="6562925"/>
            <a:ext cx="98425" cy="16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2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749299" y="287939"/>
            <a:ext cx="4843145" cy="419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长寿既是礼物，也是挑战</a:t>
            </a:r>
            <a:endParaRPr sz="3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53564" algn="l" rtl="0" eaLnBrk="0">
              <a:lnSpc>
                <a:spcPct val="98000"/>
              </a:lnSpc>
              <a:spcBef>
                <a:spcPts val="1020"/>
              </a:spcBef>
              <a:tabLst/>
            </a:pPr>
            <a:r>
              <a:rPr sz="3400" kern="0" spc="-13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人口老龄化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841"/>
              </a:spcBef>
              <a:tabLst/>
            </a:pPr>
            <a:r>
              <a:rPr sz="2300" kern="0" spc="30" baseline="679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我国已进入</a:t>
            </a:r>
            <a:r>
              <a:rPr sz="4300" kern="0" spc="30" baseline="-3634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深度老龄化</a:t>
            </a:r>
            <a:r>
              <a:rPr sz="2300" kern="0" spc="30" baseline="905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社会</a:t>
            </a:r>
            <a:r>
              <a:rPr sz="2300" kern="0" spc="20" baseline="905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，预计到2035</a:t>
            </a:r>
            <a:endParaRPr sz="2300" baseline="9058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20700" algn="l" rtl="0" eaLnBrk="0">
              <a:lnSpc>
                <a:spcPct val="77000"/>
              </a:lnSpc>
              <a:spcBef>
                <a:spcPts val="5"/>
              </a:spcBef>
              <a:tabLst/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年，中国60岁以上人口占比将超过</a:t>
            </a:r>
            <a:r>
              <a:rPr sz="3000" b="1" kern="0" spc="-80" dirty="0">
                <a:solidFill>
                  <a:srgbClr val="C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30%¹</a:t>
            </a:r>
            <a:r>
              <a:rPr sz="30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000" dirty="0">
              <a:latin typeface="SimSun"/>
              <a:ea typeface="SimSun"/>
              <a:cs typeface="SimSun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209560" y="5197640"/>
            <a:ext cx="11659234" cy="162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00" algn="l" rtl="0" eaLnBrk="0">
              <a:lnSpc>
                <a:spcPct val="94000"/>
              </a:lnSpc>
              <a:tabLst/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没有做好准备的长寿，未来容易</a:t>
            </a:r>
            <a:r>
              <a:rPr sz="2300" kern="0" spc="-5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90" dirty="0">
                <a:solidFill>
                  <a:srgbClr val="E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“长期受罪”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339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注：1、国家卫健委：2035年左右60岁及以上老年人口将破4亿占比将超30%,央视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网，2022-09-20;2、国家卫生健委：2024年我国人均预期寿命达79岁.新华社，2025-03-09;3、国家卫健委：《健康中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国行动》(2019—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2030年),环球网，2019-11-01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                                                                       </a:t>
            </a:r>
            <a:r>
              <a:rPr sz="1800" kern="0" spc="110" baseline="1157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800" baseline="11575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6616700" y="1866872"/>
            <a:ext cx="4077334" cy="652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98000"/>
              </a:lnSpc>
              <a:tabLst>
                <a:tab pos="1167764" algn="l"/>
              </a:tabLst>
            </a:pPr>
            <a:r>
              <a:rPr sz="3400" kern="0" spc="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3400" kern="0" spc="-15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长寿不等于健康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29400" y="1879572"/>
            <a:ext cx="565098" cy="565167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6585001" y="4236198"/>
            <a:ext cx="3776979" cy="547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08"/>
              </a:lnSpc>
              <a:tabLst/>
            </a:pPr>
            <a:r>
              <a:rPr sz="3400" kern="0" spc="-1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79岁2</a:t>
            </a:r>
            <a:r>
              <a:rPr sz="3400" kern="0" spc="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3200" b="1" kern="0" spc="-1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68</a:t>
            </a:r>
            <a:r>
              <a:rPr sz="3200" kern="0" spc="-1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岁3</a:t>
            </a:r>
            <a:endParaRPr sz="32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9347189" y="2897096"/>
            <a:ext cx="1748154" cy="897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96000"/>
              </a:lnSpc>
              <a:tabLst/>
            </a:pPr>
            <a:r>
              <a:rPr sz="2800" kern="0" spc="5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健康寿命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“健康预期寿命”仅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578661" y="2913672"/>
            <a:ext cx="1613535" cy="922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800" kern="0" spc="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长寿背景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人均预期寿命达</a:t>
            </a:r>
            <a:endParaRPr sz="1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215900" y="4949682"/>
            <a:ext cx="8803005" cy="1723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2600" kern="0" spc="-190" dirty="0">
                <a:solidFill>
                  <a:srgbClr val="E08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我们在家养老</a:t>
            </a:r>
            <a:r>
              <a:rPr sz="2600" kern="0" spc="-180" dirty="0">
                <a:solidFill>
                  <a:srgbClr val="E08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，不希望为</a:t>
            </a:r>
            <a:r>
              <a:rPr sz="2600" kern="0" spc="-190" dirty="0">
                <a:solidFill>
                  <a:srgbClr val="E08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健康和就医而发</a:t>
            </a:r>
            <a:r>
              <a:rPr sz="2600" kern="0" spc="-130" dirty="0">
                <a:solidFill>
                  <a:srgbClr val="E08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愁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1"/>
              </a:lnSpc>
              <a:spcBef>
                <a:spcPts val="1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注：1、《中国公共卫生》(2023).城市中老年居民亚健康状况及其影响因素分析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69080" y="3279623"/>
            <a:ext cx="4667884" cy="1273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2600" kern="0" spc="-23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挂号难、排队久、</a:t>
            </a:r>
            <a:r>
              <a:rPr sz="2600" kern="0" spc="-230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科室选择迷茫，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00000"/>
              </a:lnSpc>
              <a:spcBef>
                <a:spcPts val="236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反复复诊拿药不仅耗时，更让子女频繁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奔波，增加家庭负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担。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984239" y="3302777"/>
            <a:ext cx="4591684" cy="1063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4634"/>
              </a:lnSpc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我国</a:t>
            </a:r>
            <a:r>
              <a:rPr sz="3400" kern="0" spc="-46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70%1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人群处于亚健康状态，老年人常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受高血压、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糖尿病等慢性病困扰，日常健康管理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成为难题。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742960" y="332134"/>
            <a:ext cx="9430384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我们期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望的健康养老，通常会面对健康和就医的</a:t>
            </a: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</a:t>
            </a:r>
            <a:r>
              <a:rPr sz="34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题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7486598" y="1635506"/>
            <a:ext cx="3430904" cy="1102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痛点二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3400" kern="0" spc="-15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就医流程繁琐不便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123960" y="2012947"/>
            <a:ext cx="4565015" cy="751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4515" algn="l" rtl="0" eaLnBrk="0">
              <a:lnSpc>
                <a:spcPct val="97000"/>
              </a:lnSpc>
              <a:spcBef>
                <a:spcPts val="5"/>
              </a:spcBef>
              <a:tabLst>
                <a:tab pos="838200" algn="l"/>
              </a:tabLst>
            </a:pPr>
            <a:r>
              <a:rPr sz="3400" kern="0" spc="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3400" kern="0" spc="-16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亚健康与慢性病困扰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6660" y="2025647"/>
            <a:ext cx="552419" cy="634982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622840" y="1619242"/>
            <a:ext cx="1187450" cy="355600"/>
          </a:xfrm>
          <a:prstGeom prst="rect">
            <a:avLst/>
          </a:prstGeom>
          <a:solidFill>
            <a:srgbClr val="E1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177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痛点一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6724598" y="3197476"/>
            <a:ext cx="3480434" cy="2157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9404" algn="l" rtl="0" eaLnBrk="0">
              <a:lnSpc>
                <a:spcPct val="96000"/>
              </a:lnSpc>
              <a:tabLst/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第三十九章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加快建</a:t>
            </a: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设健康中国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indent="304800" algn="l" rtl="0" eaLnBrk="0">
              <a:lnSpc>
                <a:spcPct val="135000"/>
              </a:lnSpc>
              <a:spcBef>
                <a:spcPts val="729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实施健康优先发展战略，健全健康促进政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策制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度体系，提升爱国卫生运动成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效，推动从以治病为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中心向以健康为中心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转变，为人民群众提供公平可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及、系统连续的健康服务，提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高人民健康水平。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330200" algn="l" rtl="0" eaLnBrk="0">
              <a:lnSpc>
                <a:spcPct val="121000"/>
              </a:lnSpc>
              <a:spcBef>
                <a:spcPts val="2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把积极老龄观、健康老龄化融入经济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社会发展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全过程，深入开展人口老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龄化国情教育，营造孝老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敬老社会环境。大力发展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银发经济，丰富适老化产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898639" y="3161593"/>
            <a:ext cx="3240404" cy="2267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9000"/>
              </a:lnSpc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等民生问题上的“急难愁盼”,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加快建设符合中国国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情、顺应人口老龄化趋势的保障和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服务体系，优化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服务供给，提升发展质量，确保始终与经济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社会发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展相适应。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indent="292100" algn="l" rtl="0" eaLnBrk="0">
              <a:lnSpc>
                <a:spcPct val="137000"/>
              </a:lnSpc>
              <a:spcBef>
                <a:spcPts val="23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——兜好底线，广泛普惠。推进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养老服务体系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建设，强化政府保基本兜底线职能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，促进资源均衡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配置，确保基本养老服务保障到位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。大力发展普惠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型养老服务，充分调动社会力量积极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性，为人民群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众提供方便可及、价格可负担、质量有保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障的养老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479570" y="1455944"/>
            <a:ext cx="3859529" cy="1146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01750" algn="l" rtl="0" eaLnBrk="0">
              <a:lnSpc>
                <a:spcPct val="98000"/>
              </a:lnSpc>
              <a:tabLst/>
            </a:pP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兜底基本服务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7950" algn="l" rtl="0" eaLnBrk="0">
              <a:lnSpc>
                <a:spcPts val="1710"/>
              </a:lnSpc>
              <a:spcBef>
                <a:spcPts val="432"/>
              </a:spcBef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《十四五》规划关键词：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72644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300" b="1" kern="0" spc="-50" baseline="-4529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</a:t>
            </a:r>
            <a:r>
              <a:rPr sz="2300" kern="0" spc="-50" baseline="-4529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兜底”</a:t>
            </a:r>
            <a:r>
              <a:rPr sz="1400" kern="0" spc="-5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400" kern="0" spc="-5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“确保基本养老服务</a:t>
            </a:r>
            <a:r>
              <a:rPr sz="1400" kern="0" spc="-6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749300" y="300226"/>
            <a:ext cx="9017634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养老从“兜底基本服务”向“主动健康</a:t>
            </a: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服务”转变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6565951" y="1431383"/>
            <a:ext cx="3550920" cy="1170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50314" algn="l" rtl="0" eaLnBrk="0">
              <a:lnSpc>
                <a:spcPct val="97000"/>
              </a:lnSpc>
              <a:tabLst/>
            </a:pP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主动健康服务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7950" algn="l" rtl="0" eaLnBrk="0">
              <a:lnSpc>
                <a:spcPts val="1710"/>
              </a:lnSpc>
              <a:spcBef>
                <a:spcPts val="425"/>
              </a:spcBef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《十五五》规划关键词：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ts val="1874"/>
              </a:lnSpc>
              <a:spcBef>
                <a:spcPts val="5"/>
              </a:spcBef>
              <a:tabLst/>
            </a:pPr>
            <a:r>
              <a:rPr sz="1500" kern="0" spc="-3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“健康优先”</a:t>
            </a:r>
            <a:r>
              <a:rPr sz="1500" kern="0" spc="-3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500" kern="0" spc="-3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“健康老</a:t>
            </a:r>
            <a:r>
              <a:rPr sz="1500" kern="0" spc="-4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龄化”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625650" y="2799425"/>
            <a:ext cx="901065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95000"/>
              </a:lnSpc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《“十四五”国家老龄事业发展和养老服务体系规划》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《中华人民共和国国民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经济和社会发展第十五个五年规划纲要》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2406700" y="5537217"/>
            <a:ext cx="2292350" cy="323850"/>
          </a:xfrm>
          <a:prstGeom prst="rect">
            <a:avLst/>
          </a:prstGeom>
          <a:solidFill>
            <a:srgbClr val="E1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2915" algn="l" rtl="0" eaLnBrk="0">
              <a:lnSpc>
                <a:spcPts val="2214"/>
              </a:lnSpc>
              <a:spcBef>
                <a:spcPts val="1"/>
              </a:spcBef>
              <a:tabLst/>
            </a:pP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“服务有没有”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7340559" y="5530839"/>
            <a:ext cx="2280285" cy="323850"/>
          </a:xfrm>
          <a:prstGeom prst="rect">
            <a:avLst/>
          </a:prstGeom>
          <a:solidFill>
            <a:srgbClr val="E1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ts val="2221"/>
              </a:lnSpc>
              <a:spcBef>
                <a:spcPts val="1"/>
              </a:spcBef>
              <a:tabLst/>
            </a:pP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“既要有还要优”</a:t>
            </a:r>
            <a:endParaRPr sz="1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16100" y="2603503"/>
            <a:ext cx="2686019" cy="2216162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742960" y="300451"/>
            <a:ext cx="9427209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平安通过三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位一体管家，实现了暖心的服</a:t>
            </a: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务使用体</a:t>
            </a:r>
            <a:r>
              <a:rPr sz="3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965240" y="1593867"/>
            <a:ext cx="3613150" cy="869950"/>
          </a:xfrm>
          <a:prstGeom prst="rect">
            <a:avLst/>
          </a:prstGeom>
          <a:solidFill>
            <a:srgbClr val="E2EE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199514" algn="l" rtl="0" eaLnBrk="0">
              <a:lnSpc>
                <a:spcPct val="98000"/>
              </a:lnSpc>
              <a:spcBef>
                <a:spcPts val="7"/>
              </a:spcBef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平安居家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908050" algn="l" rtl="0" eaLnBrk="0">
              <a:lnSpc>
                <a:spcPct val="98000"/>
              </a:lnSpc>
              <a:spcBef>
                <a:spcPts val="146"/>
              </a:spcBef>
              <a:tabLst/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三位一体管家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209560" y="6481935"/>
            <a:ext cx="11658600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注：1、本页数据源自平安健康运营管家平台数据统计，截至2026年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3月26日；2、材料中所涉及的居家养老服务由平安健康互联网股份有限公司(简称“平安健康”)及/或具有经营资质的第三方服务商提供。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77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5746800" y="3199389"/>
            <a:ext cx="287083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9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2300" kern="0" spc="-80" baseline="226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累计在线问诊时长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-80" dirty="0">
                <a:solidFill>
                  <a:srgbClr val="C08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630万+</a:t>
            </a:r>
            <a:r>
              <a:rPr sz="23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</a:t>
            </a:r>
            <a:r>
              <a:rPr sz="23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钟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4244"/>
              </a:lnSpc>
              <a:tabLst/>
            </a:pPr>
            <a:r>
              <a:rPr sz="2100" kern="0" spc="-30" baseline="-932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客均进线等待仅需</a:t>
            </a:r>
            <a:r>
              <a:rPr sz="3500" kern="0" spc="-30" baseline="6311" dirty="0">
                <a:solidFill>
                  <a:srgbClr val="C08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12.</a:t>
            </a:r>
            <a:r>
              <a:rPr sz="3500" kern="0" spc="-30" baseline="6311" dirty="0">
                <a:solidFill>
                  <a:srgbClr val="D08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5;</a:t>
            </a:r>
            <a:endParaRPr sz="3500" baseline="6311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7696179" y="4617136"/>
            <a:ext cx="2983864" cy="838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居家智能音箱足迹遍布全球</a:t>
            </a:r>
            <a:r>
              <a:rPr sz="1500" kern="0" spc="-80" dirty="0">
                <a:solidFill>
                  <a:srgbClr val="A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19.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个国家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服务最远抵达</a:t>
            </a:r>
            <a:r>
              <a:rPr sz="2800" kern="0" spc="-17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877361" y="2933715"/>
            <a:ext cx="1746137" cy="1168397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7619979" y="1835610"/>
            <a:ext cx="2762885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每日向管家寻求帮助人次超</a:t>
            </a:r>
            <a:r>
              <a:rPr sz="1400" kern="0" spc="30" dirty="0">
                <a:solidFill>
                  <a:srgbClr val="B05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2,</a:t>
            </a:r>
            <a:r>
              <a:rPr sz="1400" kern="0" spc="3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000+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4765" algn="l" rtl="0" eaLnBrk="0">
              <a:lnSpc>
                <a:spcPts val="4151"/>
              </a:lnSpc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累计服务达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b="1" kern="0" spc="-21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170万</a:t>
            </a:r>
            <a:r>
              <a:rPr sz="2600" kern="0" spc="-21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18099" y="4457700"/>
            <a:ext cx="1657380" cy="113026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68939" y="1562115"/>
            <a:ext cx="1441460" cy="1206459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2489220" y="4981935"/>
            <a:ext cx="1607819" cy="594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kern="0" spc="2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</a:t>
            </a:r>
            <a:r>
              <a:rPr sz="1900" kern="0" spc="24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900" kern="0" spc="2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医生</a:t>
            </a:r>
            <a:r>
              <a:rPr sz="1900" kern="0" spc="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-6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管家</a:t>
            </a:r>
            <a:r>
              <a:rPr sz="1900" kern="0" spc="3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900" kern="0" spc="-6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管家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55679" y="4825974"/>
            <a:ext cx="870021" cy="850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1073119" y="1501266"/>
            <a:ext cx="5129529" cy="2947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2850" algn="l" rtl="0" eaLnBrk="0">
              <a:lnSpc>
                <a:spcPct val="97000"/>
              </a:lnSpc>
              <a:tabLst/>
            </a:pP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专业认可</a:t>
            </a: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·屡获殊荣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596900" algn="l" rtl="0" eaLnBrk="0">
              <a:lnSpc>
                <a:spcPts val="1361"/>
              </a:lnSpc>
              <a:spcBef>
                <a:spcPts val="1400"/>
              </a:spcBef>
              <a:tabLst/>
            </a:pPr>
            <a:r>
              <a:rPr sz="1100" kern="0" spc="-70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2022中国保险业年度</a:t>
            </a:r>
            <a:r>
              <a:rPr sz="1100" kern="0" spc="-80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适老服务典型案例</a:t>
            </a:r>
            <a:r>
              <a:rPr sz="1100" kern="0" spc="-210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80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中国银行保险报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71500" algn="l" rtl="0" eaLnBrk="0">
              <a:lnSpc>
                <a:spcPct val="95000"/>
              </a:lnSpc>
              <a:spcBef>
                <a:spcPts val="807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2023年度最佳健康养老创新寿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险公司</a:t>
            </a:r>
            <a:r>
              <a:rPr sz="12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金融时报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58165" algn="l" rtl="0" eaLnBrk="0">
              <a:lnSpc>
                <a:spcPct val="96000"/>
              </a:lnSpc>
              <a:spcBef>
                <a:spcPts val="560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2024金诺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·金融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品牌年度影响力案例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中国银行保险报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757"/>
              </a:spcBef>
              <a:tabLst/>
            </a:pPr>
            <a:r>
              <a:rPr sz="2000" kern="0" spc="-12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</a:t>
            </a:r>
            <a:r>
              <a:rPr sz="2000" kern="0" spc="-1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5五星级居家养老管家服务</a:t>
            </a:r>
            <a:r>
              <a:rPr sz="2000" kern="0" spc="-40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b="1" kern="0" spc="-1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中国质量认证中</a:t>
            </a:r>
            <a:r>
              <a:rPr sz="2000" b="1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438150" algn="l" rtl="0" eaLnBrk="0">
              <a:lnSpc>
                <a:spcPct val="96000"/>
              </a:lnSpc>
              <a:spcBef>
                <a:spcPts val="688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2025北京重点商标保护名录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北京商标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协会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438150" algn="l" rtl="0" eaLnBrk="0">
              <a:lnSpc>
                <a:spcPct val="154000"/>
              </a:lnSpc>
              <a:spcBef>
                <a:spcPts val="7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2025第二十三届“深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圳(湾区)知名品牌</a:t>
            </a:r>
            <a:r>
              <a:rPr sz="1500" kern="0" spc="-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深圳工业总会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2025卓越影响力品牌</a:t>
            </a:r>
            <a:r>
              <a:rPr sz="1500" kern="0" spc="-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金</a:t>
            </a:r>
            <a:r>
              <a:rPr sz="15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贝案例评选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822450" algn="l" rtl="0" eaLnBrk="0">
              <a:lnSpc>
                <a:spcPts val="1480"/>
              </a:lnSpc>
              <a:spcBef>
                <a:spcPts val="2"/>
              </a:spcBef>
              <a:tabLst/>
            </a:pP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等众多荣誉……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65899" y="2368547"/>
            <a:ext cx="2501920" cy="3606827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18659" y="2336794"/>
            <a:ext cx="2076419" cy="321311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6238" y="4457700"/>
            <a:ext cx="5283281" cy="1225524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749299" y="300451"/>
            <a:ext cx="8811894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历年斩获各项荣誉，践行“专业、诚信、卓越”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215899" y="6469247"/>
            <a:ext cx="11657330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注：本页呈现的专业荣誉获奖主体为平安人寿保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险股份有限公司，锦旗和手写信对象为平安健康运营的生活管家服务。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3000"/>
              </a:lnSpc>
              <a:spcBef>
                <a:spcPts val="25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8261400" y="1502357"/>
            <a:ext cx="2486660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客户信赖</a:t>
            </a: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100" kern="0" spc="-84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□碑相传</a:t>
            </a:r>
            <a:endParaRPr sz="2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209560" y="5342980"/>
            <a:ext cx="11462384" cy="1344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16150" algn="l" rtl="0" eaLnBrk="0">
              <a:lnSpc>
                <a:spcPct val="97000"/>
              </a:lnSpc>
              <a:tabLst/>
            </a:pP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有服务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注：1、本页材料中所涉及的居家养老服务由平安健康互联网股份有限公司(简称“平安健康”)及/或具有经营资质的第三方服务商提供，其中付费服务客户可按需自主选购，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相关健康管理方案仅供参考。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9162998" y="1376395"/>
            <a:ext cx="1878964" cy="2211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ts val="5792"/>
              </a:lnSpc>
              <a:tabLst/>
            </a:pPr>
            <a:r>
              <a:rPr sz="3900" kern="0" spc="-19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39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5000"/>
              </a:lnSpc>
              <a:spcBef>
                <a:spcPts val="1574"/>
              </a:spcBef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再次升级“健管+医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疗”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654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</a:t>
            </a:r>
            <a:r>
              <a:rPr sz="1400" kern="0" spc="-10" dirty="0">
                <a:solidFill>
                  <a:srgbClr val="D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主动健康管理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41350" algn="l" rtl="0" eaLnBrk="0">
              <a:lnSpc>
                <a:spcPct val="97000"/>
              </a:lnSpc>
              <a:spcBef>
                <a:spcPts val="413"/>
              </a:spcBef>
              <a:tabLst/>
            </a:pPr>
            <a:r>
              <a:rPr sz="1400" kern="0" spc="-3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吃得好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41350" algn="l" rtl="0" eaLnBrk="0">
              <a:lnSpc>
                <a:spcPct val="97000"/>
              </a:lnSpc>
              <a:spcBef>
                <a:spcPts val="421"/>
              </a:spcBef>
              <a:tabLst/>
            </a:pPr>
            <a:r>
              <a:rPr sz="1400" kern="0" spc="-3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睡得好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41350" algn="l" rtl="0" eaLnBrk="0">
              <a:lnSpc>
                <a:spcPct val="95000"/>
              </a:lnSpc>
              <a:spcBef>
                <a:spcPts val="311"/>
              </a:spcBef>
              <a:tabLst/>
            </a:pPr>
            <a:r>
              <a:rPr sz="1400" kern="0" spc="-2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养得好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742960" y="262320"/>
            <a:ext cx="8620759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平安居家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关注长者核心刚需，聚焦主动健康管</a:t>
            </a:r>
            <a:r>
              <a:rPr sz="3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425480" y="3210552"/>
            <a:ext cx="1835150" cy="1668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200" algn="l" rtl="0" eaLnBrk="0">
              <a:lnSpc>
                <a:spcPts val="4634"/>
              </a:lnSpc>
              <a:tabLst/>
            </a:pPr>
            <a:r>
              <a:rPr sz="3300" kern="0" spc="-16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endParaRPr sz="3300" dirty="0">
              <a:latin typeface="Arial"/>
              <a:ea typeface="Arial"/>
              <a:cs typeface="Arial"/>
            </a:endParaRPr>
          </a:p>
          <a:p>
            <a:pPr marL="656590" algn="l" rtl="0" eaLnBrk="0">
              <a:lnSpc>
                <a:spcPct val="96000"/>
              </a:lnSpc>
              <a:spcBef>
                <a:spcPts val="332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20城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42265" indent="-329565" algn="l" rtl="0" eaLnBrk="0">
              <a:lnSpc>
                <a:spcPct val="107000"/>
              </a:lnSpc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居家养老服务正式开启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迈出探索第一步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7067559" y="1757357"/>
            <a:ext cx="1527175" cy="1792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79"/>
              </a:lnSpc>
              <a:tabLst>
                <a:tab pos="34099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endParaRPr sz="10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ct val="95000"/>
              </a:lnSpc>
              <a:spcBef>
                <a:spcPts val="237"/>
              </a:spcBef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打造专业服务计划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8239142" y="3111048"/>
            <a:ext cx="355600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景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7067559" y="3111048"/>
            <a:ext cx="354329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焦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51171" y="1770057"/>
            <a:ext cx="495476" cy="1534157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69159" y="1770057"/>
            <a:ext cx="214772" cy="1534157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85058" y="1936840"/>
            <a:ext cx="194095" cy="1367374"/>
          </a:xfrm>
          <a:prstGeom prst="rect">
            <a:avLst/>
          </a:prstGeom>
        </p:spPr>
      </p:pic>
      <p:sp>
        <p:nvSpPr>
          <p:cNvPr id="128" name="textbox 128"/>
          <p:cNvSpPr/>
          <p:nvPr/>
        </p:nvSpPr>
        <p:spPr>
          <a:xfrm>
            <a:off x="2984459" y="2673836"/>
            <a:ext cx="1038225" cy="1699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7950" algn="l" rtl="0" eaLnBrk="0">
              <a:lnSpc>
                <a:spcPts val="5247"/>
              </a:lnSpc>
              <a:tabLst/>
            </a:pPr>
            <a:r>
              <a:rPr sz="3600" kern="0" spc="-18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600" kern="0" spc="11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600" kern="0" spc="-18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4450" indent="-31750" algn="l" rtl="0" eaLnBrk="0">
              <a:lnSpc>
                <a:spcPct val="103000"/>
              </a:lnSpc>
              <a:spcBef>
                <a:spcPts val="2"/>
              </a:spcBef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构建十大场景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超500项服务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3515084" y="3300578"/>
            <a:ext cx="209550" cy="245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城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543050" y="2824921"/>
            <a:ext cx="223520" cy="474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3000" kern="0" spc="-13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3000" dirty="0">
              <a:latin typeface="Arial"/>
              <a:ea typeface="Arial"/>
              <a:cs typeface="Arial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06468" y="2686536"/>
            <a:ext cx="225705" cy="820099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4819598" y="2837292"/>
            <a:ext cx="1698625" cy="1023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18490" algn="l" rtl="0" eaLnBrk="0">
              <a:lnSpc>
                <a:spcPct val="96000"/>
              </a:lnSpc>
              <a:tabLst/>
            </a:pPr>
            <a:r>
              <a:rPr sz="16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75城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49250" indent="-33655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发布多项联体服务标准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扩大服务供给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9289965" y="4097613"/>
            <a:ext cx="142113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24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好服务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6030387" y="4719387"/>
            <a:ext cx="954405" cy="368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广覆盖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9750327" y="2043929"/>
            <a:ext cx="654050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120+城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11772940" y="6624754"/>
            <a:ext cx="92710" cy="16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12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48" name="table 148"/>
          <p:cNvGraphicFramePr>
            <a:graphicFrameLocks noGrp="1"/>
          </p:cNvGraphicFramePr>
          <p:nvPr/>
        </p:nvGraphicFramePr>
        <p:xfrm>
          <a:off x="1174699" y="2415655"/>
          <a:ext cx="10230485" cy="3367405"/>
        </p:xfrm>
        <a:graphic>
          <a:graphicData uri="http://schemas.openxmlformats.org/drawingml/2006/table">
            <a:tbl>
              <a:tblPr/>
              <a:tblGrid>
                <a:gridCol w="2470785"/>
                <a:gridCol w="2731135"/>
                <a:gridCol w="1492250"/>
                <a:gridCol w="1196975"/>
                <a:gridCol w="2339339"/>
              </a:tblGrid>
              <a:tr h="908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300" b="1" kern="0" spc="-60" baseline="6879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3400" b="1" kern="0" spc="45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100" kern="0" spc="-60" dirty="0">
                          <a:solidFill>
                            <a:srgbClr val="A07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位一体管家</a:t>
                      </a:r>
                      <a:endParaRPr sz="2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296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100" kern="0" spc="-7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大核心场景</a:t>
                      </a:r>
                      <a:endParaRPr sz="2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16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健康</a:t>
                      </a:r>
                      <a:r>
                        <a:rPr sz="1600" kern="0" spc="-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主动享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293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营养管理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吃出</a:t>
                      </a:r>
                      <a:r>
                        <a:rPr sz="1600" kern="0" spc="-14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好身体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54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就医全帮办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看病</a:t>
                      </a:r>
                      <a:r>
                        <a:rPr sz="1600" kern="0" spc="-1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好帮手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0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生活管家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16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700" kern="0" spc="-7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就医</a:t>
                      </a:r>
                      <a:r>
                        <a:rPr sz="1700" kern="0" spc="-7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轻松享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103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睡眠管理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睡出</a:t>
                      </a:r>
                      <a:r>
                        <a:rPr sz="1600" kern="0" spc="-40" dirty="0">
                          <a:solidFill>
                            <a:srgbClr val="D07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好精神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9404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智能守护</a:t>
                      </a:r>
                      <a:r>
                        <a:rPr sz="1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1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安全</a:t>
                      </a:r>
                      <a:r>
                        <a:rPr sz="1700" kern="0" spc="-70" dirty="0">
                          <a:solidFill>
                            <a:srgbClr val="D07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好保障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0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医生管家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676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600" kern="0" spc="-2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安</a:t>
                      </a:r>
                      <a:r>
                        <a:rPr sz="1600" kern="0" spc="-22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600" kern="0" spc="-2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</a:t>
                      </a:r>
                      <a:r>
                        <a:rPr sz="1600" kern="0" spc="-2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随时享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2930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机能改善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6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激发</a:t>
                      </a:r>
                      <a:r>
                        <a:rPr sz="1600" kern="0" spc="-14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好状态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全球询医找药医药</a:t>
                      </a:r>
                      <a:r>
                        <a:rPr sz="1600" kern="0" spc="-40" dirty="0">
                          <a:solidFill>
                            <a:srgbClr val="D07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好资源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0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智能管家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165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照护</a:t>
                      </a:r>
                      <a:r>
                        <a:rPr sz="1600" kern="0" spc="10" dirty="0">
                          <a:solidFill>
                            <a:srgbClr val="808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放心享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51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293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多病共管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51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6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慢病</a:t>
                      </a:r>
                      <a:r>
                        <a:rPr sz="1600" kern="0" spc="-90" dirty="0">
                          <a:solidFill>
                            <a:srgbClr val="D0803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好管理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0" name="textbox 150"/>
          <p:cNvSpPr/>
          <p:nvPr/>
        </p:nvSpPr>
        <p:spPr>
          <a:xfrm>
            <a:off x="501680" y="313139"/>
            <a:ext cx="9293859" cy="2091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平安居家“347”服务体系，打造品质服务体验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051300" algn="l" rtl="0" eaLnBrk="0">
              <a:lnSpc>
                <a:spcPct val="97000"/>
              </a:lnSpc>
              <a:spcBef>
                <a:spcPts val="632"/>
              </a:spcBef>
              <a:tabLst/>
            </a:pP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平安居家“347”服务体系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100" kern="0" spc="-80" dirty="0">
                <a:solidFill>
                  <a:srgbClr val="D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好王牌服务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1772940" y="6577624"/>
            <a:ext cx="100964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67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358900" y="4941175"/>
            <a:ext cx="9879965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健康长寿七分靠“养”,三分靠“治”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1791959" y="6615902"/>
            <a:ext cx="171450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35300" y="2578127"/>
            <a:ext cx="9023299" cy="2298664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279" y="1035078"/>
            <a:ext cx="2159081" cy="5245066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660660" y="4978427"/>
            <a:ext cx="8902719" cy="1200150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399999" y="1052283"/>
            <a:ext cx="1882139" cy="4805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6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吃不好三</a:t>
            </a:r>
            <a:r>
              <a:rPr sz="26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源</a:t>
            </a:r>
            <a:r>
              <a:rPr sz="26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头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7000"/>
              </a:lnSpc>
              <a:spcBef>
                <a:spcPts val="633"/>
              </a:spcBef>
              <a:tabLst/>
            </a:pPr>
            <a:r>
              <a:rPr sz="2100" kern="0" spc="-7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肠胃紊乱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304800" algn="l" rtl="0" eaLnBrk="0">
              <a:lnSpc>
                <a:spcPct val="96000"/>
              </a:lnSpc>
              <a:spcBef>
                <a:spcPts val="381"/>
              </a:spcBef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免疫功能下降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698500" algn="l" rtl="0" eaLnBrk="0">
              <a:lnSpc>
                <a:spcPct val="82000"/>
              </a:lnSpc>
              <a:spcBef>
                <a:spcPts val="1665"/>
              </a:spcBef>
              <a:tabLst/>
            </a:pPr>
            <a:r>
              <a:rPr sz="1900" b="1" kern="0" spc="-20" dirty="0">
                <a:solidFill>
                  <a:srgbClr val="D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95%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4500" algn="l" rtl="0" eaLnBrk="0">
              <a:lnSpc>
                <a:spcPct val="97000"/>
              </a:lnSpc>
              <a:spcBef>
                <a:spcPts val="631"/>
              </a:spcBef>
              <a:tabLst/>
            </a:pPr>
            <a:r>
              <a:rPr sz="2100" kern="0" spc="-5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代谢失调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317500" algn="l" rtl="0" eaLnBrk="0">
              <a:lnSpc>
                <a:spcPct val="96000"/>
              </a:lnSpc>
              <a:spcBef>
                <a:spcPts val="331"/>
              </a:spcBef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三高指标风险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685800" algn="l" rtl="0" eaLnBrk="0">
              <a:lnSpc>
                <a:spcPts val="3203"/>
              </a:lnSpc>
              <a:spcBef>
                <a:spcPts val="833"/>
              </a:spcBef>
              <a:tabLst/>
            </a:pPr>
            <a:r>
              <a:rPr sz="2300" kern="0" spc="-150" dirty="0">
                <a:solidFill>
                  <a:srgbClr val="D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7000"/>
              </a:lnSpc>
              <a:spcBef>
                <a:spcPts val="639"/>
              </a:spcBef>
              <a:tabLst/>
            </a:pPr>
            <a:r>
              <a:rPr sz="2100" kern="0" spc="-5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营养错补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46050" algn="l" rtl="0" eaLnBrk="0">
              <a:lnSpc>
                <a:spcPct val="95000"/>
              </a:lnSpc>
              <a:spcBef>
                <a:spcPts val="289"/>
              </a:spcBef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术后并发症发生率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730250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2100" kern="0" spc="1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5倍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69701" y="0"/>
            <a:ext cx="1015958" cy="273016"/>
          </a:xfrm>
          <a:prstGeom prst="rect">
            <a:avLst/>
          </a:prstGeom>
        </p:spPr>
      </p:pic>
      <p:sp>
        <p:nvSpPr>
          <p:cNvPr id="172" name="rect 172"/>
          <p:cNvSpPr/>
          <p:nvPr/>
        </p:nvSpPr>
        <p:spPr>
          <a:xfrm>
            <a:off x="10128259" y="0"/>
            <a:ext cx="1015959" cy="273016"/>
          </a:xfrm>
          <a:prstGeom prst="rect">
            <a:avLst/>
          </a:prstGeom>
          <a:solidFill>
            <a:srgbClr val="C5E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textbox 174"/>
          <p:cNvSpPr/>
          <p:nvPr/>
        </p:nvSpPr>
        <p:spPr>
          <a:xfrm>
            <a:off x="742960" y="62603"/>
            <a:ext cx="11419205" cy="720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84665" algn="l" rtl="0" eaLnBrk="0">
              <a:lnSpc>
                <a:spcPct val="91000"/>
              </a:lnSpc>
              <a:tabLst>
                <a:tab pos="948626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七分“养”</a:t>
            </a:r>
            <a:r>
              <a:rPr sz="1300" kern="0" spc="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三分“治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85"/>
              </a:spcBef>
              <a:tabLst/>
            </a:pPr>
            <a:r>
              <a:rPr sz="34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平时养健康：营养管理135,健康</a:t>
            </a:r>
            <a:r>
              <a:rPr sz="34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更靠谱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3251219" y="1818791"/>
            <a:ext cx="1757045" cy="3857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97000"/>
              </a:lnSpc>
              <a:tabLst/>
            </a:pP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支团队定方向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34"/>
              </a:spcBef>
              <a:tabLst/>
            </a:pP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类专案靶向调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师天团全程陪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78" name="rect 178"/>
          <p:cNvSpPr/>
          <p:nvPr/>
        </p:nvSpPr>
        <p:spPr>
          <a:xfrm>
            <a:off x="6197559" y="1028700"/>
            <a:ext cx="2139939" cy="463532"/>
          </a:xfrm>
          <a:prstGeom prst="rect">
            <a:avLst/>
          </a:prstGeom>
          <a:solidFill>
            <a:srgbClr val="E1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textbox 180"/>
          <p:cNvSpPr/>
          <p:nvPr/>
        </p:nvSpPr>
        <p:spPr>
          <a:xfrm>
            <a:off x="5454680" y="1085096"/>
            <a:ext cx="5793740" cy="1096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97610" algn="l" rtl="0" eaLnBrk="0">
              <a:lnSpc>
                <a:spcPct val="97000"/>
              </a:lnSpc>
              <a:tabLst/>
            </a:pP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营养管理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近40年经验</a:t>
            </a:r>
            <a:r>
              <a:rPr sz="1900" kern="0" spc="-8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名院主任</a:t>
            </a: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领衔，</a:t>
            </a:r>
            <a:r>
              <a:rPr sz="1900" kern="0" spc="-8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自营营养科医</a:t>
            </a:r>
            <a:r>
              <a:rPr sz="1900" kern="0" spc="-8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生和</a:t>
            </a:r>
            <a:r>
              <a:rPr sz="1900" kern="0" spc="-8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营养师</a:t>
            </a: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协同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5530880" y="2656976"/>
            <a:ext cx="1772285" cy="2173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97000"/>
              </a:lnSpc>
              <a:tabLst/>
            </a:pP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肠胃调理专案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96000"/>
              </a:lnSpc>
              <a:spcBef>
                <a:spcPts val="427"/>
              </a:spcBef>
              <a:tabLst/>
            </a:pPr>
            <a:r>
              <a:rPr sz="1400" kern="0" spc="3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解决吃不香、</a:t>
            </a:r>
            <a:r>
              <a:rPr sz="1400" kern="0" spc="3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消化差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·食物不耐受轮替方案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868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·轻中肠菌紊乱调理方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818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·重度肠菌紊乱移植方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回访服务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9601179" y="2670755"/>
            <a:ext cx="1770379" cy="2094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术后康复专案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1"/>
              </a:spcBef>
              <a:tabLst/>
            </a:pPr>
            <a:r>
              <a:rPr sz="1400" kern="0" spc="3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解决吃不好、</a:t>
            </a:r>
            <a:r>
              <a:rPr sz="1400" kern="0" spc="3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恢复差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96850" algn="l" rtl="0" eaLnBrk="0">
              <a:lnSpc>
                <a:spcPts val="1485"/>
              </a:lnSpc>
              <a:spcBef>
                <a:spcPts val="1191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蛋白质支持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96850" algn="l" rtl="0" eaLnBrk="0">
              <a:lnSpc>
                <a:spcPct val="95000"/>
              </a:lnSpc>
              <a:spcBef>
                <a:spcPts val="813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·术后营养素补充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96850" algn="l" rtl="0" eaLnBrk="0">
              <a:lnSpc>
                <a:spcPts val="1480"/>
              </a:lnSpc>
              <a:spcBef>
                <a:spcPts val="866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康复运动辅助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ts val="1476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IVI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跟进服务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5391160" y="5467093"/>
            <a:ext cx="5513704" cy="701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14"/>
              </a:lnSpc>
              <a:tabLst/>
            </a:pPr>
            <a:r>
              <a:rPr sz="2000" kern="0" spc="-30" baseline="-11083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营养科医生</a:t>
            </a:r>
            <a:r>
              <a:rPr sz="1300" kern="0" spc="-3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2000" kern="0" spc="-30" baseline="-327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营养师</a:t>
            </a:r>
            <a:r>
              <a:rPr sz="1300" kern="0" spc="-3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300" kern="0" spc="-4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000" kern="0" spc="-40" baseline="149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个案管理师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心理咨询师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000" kern="0" spc="-40" baseline="2277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运动康复师</a:t>
            </a:r>
            <a:endParaRPr sz="2000" baseline="22773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ts val="2491"/>
              </a:lnSpc>
              <a:spcBef>
                <a:spcPts val="3"/>
              </a:spcBef>
              <a:tabLst/>
            </a:pPr>
            <a:r>
              <a:rPr sz="3000" kern="0" spc="60" baseline="-198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全程陪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按需协作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7607299" y="2658886"/>
            <a:ext cx="1655445" cy="1833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ct val="98000"/>
              </a:lnSpc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五高慢病专案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28"/>
              </a:spcBef>
              <a:tabLst/>
            </a:pPr>
            <a:r>
              <a:rPr sz="1400" kern="0" spc="2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解决吃不对、代谢差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83514" algn="l" rtl="0" eaLnBrk="0">
              <a:lnSpc>
                <a:spcPct val="96000"/>
              </a:lnSpc>
              <a:spcBef>
                <a:spcPts val="1401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医院检测报告解读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83514" algn="l" rtl="0" eaLnBrk="0">
              <a:lnSpc>
                <a:spcPct val="95000"/>
              </a:lnSpc>
              <a:spcBef>
                <a:spcPts val="799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·饮食“红黑榜”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83514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200" kern="0" spc="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21天社群管理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1835119" y="6220241"/>
            <a:ext cx="8360409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借助平安自营的营养团队，通过3个月的临床级营养管理，助您吃出好体质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27020" y="6677407"/>
            <a:ext cx="3768725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数据来源：《中国居民营养与慢性病状况报告202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0》、《2022国民健康洞察报告》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57560" y="1587490"/>
            <a:ext cx="342838" cy="539793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11791960" y="6610453"/>
            <a:ext cx="191135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635060" y="1073095"/>
            <a:ext cx="2165985" cy="4801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睡眠风险三隐患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5465" algn="l" rtl="0" eaLnBrk="0">
              <a:lnSpc>
                <a:spcPct val="97000"/>
              </a:lnSpc>
              <a:spcBef>
                <a:spcPts val="631"/>
              </a:spcBef>
              <a:tabLst/>
            </a:pPr>
            <a:r>
              <a:rPr sz="2100" kern="0" spc="-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睡眠不足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628015" algn="l" rtl="0" eaLnBrk="0">
              <a:lnSpc>
                <a:spcPct val="96000"/>
              </a:lnSpc>
              <a:spcBef>
                <a:spcPts val="594"/>
              </a:spcBef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认知障碍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755015" algn="l" rtl="0" eaLnBrk="0">
              <a:lnSpc>
                <a:spcPct val="99000"/>
              </a:lnSpc>
              <a:spcBef>
                <a:spcPts val="1149"/>
              </a:spcBef>
              <a:tabLst/>
            </a:pPr>
            <a:r>
              <a:rPr sz="1900" kern="0" spc="-70" dirty="0">
                <a:solidFill>
                  <a:srgbClr val="B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1.5倍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5465" algn="l" rtl="0" eaLnBrk="0">
              <a:lnSpc>
                <a:spcPct val="97000"/>
              </a:lnSpc>
              <a:spcBef>
                <a:spcPts val="640"/>
              </a:spcBef>
              <a:tabLst/>
            </a:pPr>
            <a:r>
              <a:rPr sz="2100" kern="0" spc="-7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呼吸打鼾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647065" algn="l" rtl="0" eaLnBrk="0">
              <a:lnSpc>
                <a:spcPct val="95000"/>
              </a:lnSpc>
              <a:spcBef>
                <a:spcPts val="288"/>
              </a:spcBef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猝死风险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824864" algn="l" rtl="0" eaLnBrk="0">
              <a:lnSpc>
                <a:spcPct val="98000"/>
              </a:lnSpc>
              <a:spcBef>
                <a:spcPts val="1103"/>
              </a:spcBef>
              <a:tabLst/>
            </a:pPr>
            <a:r>
              <a:rPr sz="2100" kern="0" spc="1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4倍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5465" algn="l" rtl="0" eaLnBrk="0">
              <a:lnSpc>
                <a:spcPct val="97000"/>
              </a:lnSpc>
              <a:spcBef>
                <a:spcPts val="636"/>
              </a:spcBef>
              <a:tabLst/>
            </a:pPr>
            <a:r>
              <a:rPr sz="2100" kern="0" spc="-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昼夜颠倒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380365" algn="l" rtl="0" eaLnBrk="0">
              <a:lnSpc>
                <a:spcPct val="96000"/>
              </a:lnSpc>
              <a:spcBef>
                <a:spcPts val="378"/>
              </a:spcBef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II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型糖尿病风险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799465" algn="l" rtl="0" eaLnBrk="0">
              <a:lnSpc>
                <a:spcPts val="2930"/>
              </a:lnSpc>
              <a:spcBef>
                <a:spcPts val="14"/>
              </a:spcBef>
              <a:tabLst/>
            </a:pPr>
            <a:r>
              <a:rPr sz="2100" kern="0" spc="-60" dirty="0">
                <a:solidFill>
                  <a:srgbClr val="C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50%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2"/>
              </a:spcBef>
              <a:tabLst/>
            </a:pPr>
            <a:r>
              <a:rPr sz="1600" i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睡眠不佳易导致健康风险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127020" y="6169703"/>
            <a:ext cx="1170114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62000" algn="l" rtl="0" eaLnBrk="0">
              <a:lnSpc>
                <a:spcPct val="94000"/>
              </a:lnSpc>
              <a:tabLst/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前沿设备24小时无感精准捕捉睡眠状态，自营睡眠专家团队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，3个月持续主动管理，好睡变简单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41"/>
              </a:lnSpc>
              <a:spcBef>
                <a:spcPts val="813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数据来源：《成人阻塞性睡眠呼吸暂停诊治指南(2024)》、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Spira,A.P.et al.(20131.Self-reported sleep and β-amyloid deposition in community-dwelling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older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adults.JAMA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Neurology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IARC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Monographs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Evaluation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Carcinogenic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ks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Humans,Volume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98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05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(2007).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Shif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</a:t>
            </a:r>
            <a:r>
              <a:rPr sz="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thatInvolves</a:t>
            </a:r>
            <a:r>
              <a:rPr sz="7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Circadian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Disruption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CBTI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 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失眠认知行为疗法)是一种通过认知调整(纠正错误睡眠观念)、行为干预(如睡眠限制、刺激控制)和睡眠卫生教育相结合的结构化疗法，</a:t>
            </a:r>
            <a:r>
              <a:rPr sz="700" kern="0" spc="120" dirty="0">
                <a:solidFill>
                  <a:srgbClr val="505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旨在系统改善失眠症状并重建健康睡眠</a:t>
            </a:r>
            <a:r>
              <a:rPr sz="700" kern="0" spc="110" dirty="0">
                <a:solidFill>
                  <a:srgbClr val="505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模式科学量表：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4749759" y="1597307"/>
          <a:ext cx="4623434" cy="1329054"/>
        </p:xfrm>
        <a:graphic>
          <a:graphicData uri="http://schemas.openxmlformats.org/drawingml/2006/table">
            <a:tbl>
              <a:tblPr/>
              <a:tblGrid>
                <a:gridCol w="2289175"/>
                <a:gridCol w="2334260"/>
              </a:tblGrid>
              <a:tr h="13290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·前沿设备：2种智能设备监测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9050" algn="l" rtl="0" eaLnBrk="0">
                        <a:lnSpc>
                          <a:spcPct val="95000"/>
                        </a:lnSpc>
                        <a:spcBef>
                          <a:spcPts val="668"/>
                        </a:spcBef>
                        <a:tabLst/>
                      </a:pPr>
                      <a:r>
                        <a:rPr sz="1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·专业测评：科学量表深度剖析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93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C0702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首款睡眠呼吸(</a:t>
                      </a:r>
                      <a:endParaRPr sz="10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191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C0702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障碍监测的智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1914" algn="l" rtl="0" eaLnBrk="0">
                        <a:lnSpc>
                          <a:spcPts val="1352"/>
                        </a:lnSpc>
                        <a:tabLst/>
                      </a:pPr>
                      <a:r>
                        <a:rPr sz="1100" kern="0" spc="-60" dirty="0">
                          <a:solidFill>
                            <a:srgbClr val="C0702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能戒指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4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·六维监测：获取完整睡</a:t>
                      </a:r>
                      <a:r>
                        <a:rPr sz="13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眠状态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069339" algn="l" rtl="0" eaLnBrk="0">
                        <a:lnSpc>
                          <a:spcPct val="81000"/>
                        </a:lnSpc>
                        <a:spcBef>
                          <a:spcPts val="1243"/>
                        </a:spcBef>
                        <a:tabLst/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呼吸率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66775" indent="888364" algn="l" rtl="0" eaLnBrk="0">
                        <a:lnSpc>
                          <a:spcPct val="94000"/>
                        </a:lnSpc>
                        <a:spcBef>
                          <a:spcPts val="32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体动</a:t>
                      </a: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</a:t>
                      </a: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六维监测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13"/>
                        </a:spcBef>
                        <a:tabLst/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呼吸暂停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2025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睡眠质量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6" name="textbox 206"/>
          <p:cNvSpPr/>
          <p:nvPr/>
        </p:nvSpPr>
        <p:spPr>
          <a:xfrm>
            <a:off x="10138324" y="1082986"/>
            <a:ext cx="1353819" cy="398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339" algn="l" rtl="0" eaLnBrk="0">
              <a:lnSpc>
                <a:spcPct val="97000"/>
              </a:lnSpc>
              <a:tabLst/>
            </a:pP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服务价值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637"/>
              </a:spcBef>
              <a:tabLst/>
            </a:pPr>
            <a:r>
              <a:rPr sz="2100" b="1" kern="0" spc="-7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让您入睡快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636"/>
              </a:spcBef>
              <a:tabLst/>
            </a:pPr>
            <a:r>
              <a:rPr sz="2100" kern="0" spc="-7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整夜睡得稳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3339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1900" kern="0" spc="12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天天心情好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3365459" y="1965719"/>
            <a:ext cx="1156335" cy="395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0550" algn="l" rtl="0" eaLnBrk="0">
              <a:lnSpc>
                <a:spcPct val="98000"/>
              </a:lnSpc>
              <a:tabLst/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套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928"/>
              </a:spcBef>
              <a:tabLst/>
            </a:pP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监测体系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0550" algn="l" rtl="0" eaLnBrk="0">
              <a:lnSpc>
                <a:spcPct val="100000"/>
              </a:lnSpc>
              <a:spcBef>
                <a:spcPts val="631"/>
              </a:spcBef>
              <a:tabLst/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832"/>
              </a:spcBef>
              <a:tabLst/>
            </a:pP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专家团队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97"/>
              </a:lnSpc>
              <a:spcBef>
                <a:spcPts val="1569"/>
              </a:spcBef>
              <a:tabLst/>
            </a:pPr>
            <a:r>
              <a:rPr sz="5200" kern="0" spc="-160" dirty="0">
                <a:solidFill>
                  <a:srgbClr val="C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</a:t>
            </a:r>
            <a:r>
              <a:rPr sz="23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个月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223"/>
              </a:lnSpc>
              <a:tabLst/>
            </a:pP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主动陪伴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5041859" y="4873909"/>
            <a:ext cx="4075429" cy="1007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-9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每天/周/月推送睡眠分析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249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医生定期回访指导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04"/>
              </a:lnSpc>
              <a:spcBef>
                <a:spcPts val="1"/>
              </a:spcBef>
              <a:tabLst/>
            </a:pPr>
            <a:r>
              <a:rPr sz="2000" kern="0" spc="-60" baseline="22641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2000" kern="0" spc="-50" baseline="22641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个月持续跟进关怀</a:t>
            </a:r>
            <a:r>
              <a:rPr sz="1300" kern="0" spc="-5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300" kern="0" spc="-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000" kern="0" spc="-60" baseline="-600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音箱/企微推送，语音播</a:t>
            </a:r>
            <a:r>
              <a:rPr sz="2000" kern="0" spc="-50" baseline="-600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</a:t>
            </a:r>
            <a:endParaRPr sz="2000" baseline="-6006" dirty="0">
              <a:latin typeface="SimHei"/>
              <a:ea typeface="SimHei"/>
              <a:cs typeface="Sim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539719" y="307655"/>
            <a:ext cx="7080884" cy="521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6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34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平时享健康：睡眠管理113,好睡变简单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5041858" y="3324550"/>
            <a:ext cx="1257935" cy="993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300" kern="0" spc="-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30+</a:t>
            </a:r>
            <a:r>
              <a:rPr sz="1300" kern="0" spc="-10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睡眠管理医生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424"/>
              </a:lnSpc>
              <a:tabLst/>
            </a:pPr>
            <a:r>
              <a:rPr sz="1300" kern="0" spc="-5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100+</a:t>
            </a:r>
            <a:r>
              <a:rPr sz="1300" kern="0" spc="-22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权威名医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个性睡眠方案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0128259" y="0"/>
            <a:ext cx="2057400" cy="273016"/>
            <a:chOff x="0" y="0"/>
            <a:chExt cx="2057400" cy="273016"/>
          </a:xfrm>
        </p:grpSpPr>
        <p:pic>
          <p:nvPicPr>
            <p:cNvPr id="216" name="picture 2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057400" cy="273016"/>
            </a:xfrm>
            <a:prstGeom prst="rect">
              <a:avLst/>
            </a:prstGeom>
          </p:spPr>
        </p:pic>
        <p:sp>
          <p:nvSpPr>
            <p:cNvPr id="218" name="textbox 218"/>
            <p:cNvSpPr/>
            <p:nvPr/>
          </p:nvSpPr>
          <p:spPr>
            <a:xfrm>
              <a:off x="-12700" y="-12700"/>
              <a:ext cx="2083435" cy="320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13664" algn="l" rtl="0" eaLnBrk="0">
                <a:lnSpc>
                  <a:spcPts val="1594"/>
                </a:lnSpc>
                <a:spcBef>
                  <a:spcPts val="3"/>
                </a:spcBef>
                <a:tabLst/>
              </a:pPr>
              <a:r>
                <a:rPr sz="13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七分“养”</a:t>
              </a:r>
              <a:r>
                <a:rPr sz="1300" kern="0" spc="2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三分“治</a:t>
              </a:r>
              <a:r>
                <a:rPr sz="1300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”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20" name="textbox 220"/>
          <p:cNvSpPr/>
          <p:nvPr/>
        </p:nvSpPr>
        <p:spPr>
          <a:xfrm>
            <a:off x="6883461" y="3410189"/>
            <a:ext cx="666750" cy="779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kern="0" spc="-40" dirty="0">
                <a:solidFill>
                  <a:srgbClr val="D08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中医调理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1582"/>
              </a:lnSpc>
              <a:spcBef>
                <a:spcPts val="3"/>
              </a:spcBef>
              <a:tabLst/>
            </a:pPr>
            <a:r>
              <a:rPr sz="1200" kern="0" spc="-40" dirty="0">
                <a:solidFill>
                  <a:srgbClr val="C08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CBTI</a:t>
            </a:r>
            <a:r>
              <a:rPr sz="1200" kern="0" spc="-40" dirty="0">
                <a:solidFill>
                  <a:srgbClr val="C08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疗法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8255060" y="3421720"/>
            <a:ext cx="65087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就诊建议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300" kern="0" spc="-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设备配置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5753140" y="1042012"/>
            <a:ext cx="12509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26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睡眠管</a:t>
            </a:r>
            <a:r>
              <a:rPr sz="26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7315179" y="2083689"/>
            <a:ext cx="442594" cy="616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心率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330"/>
              </a:lnSpc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血氧</a:t>
            </a:r>
            <a:endParaRPr sz="1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30" name="textbox 230"/>
          <p:cNvSpPr/>
          <p:nvPr/>
        </p:nvSpPr>
        <p:spPr>
          <a:xfrm>
            <a:off x="6585000" y="1914819"/>
            <a:ext cx="4324984" cy="1301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·每日睡眠报告：起床后音箱语音播报、平安管家服务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号推送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480"/>
              </a:lnSpc>
              <a:spcBef>
                <a:spcPts val="144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·每周/月分析：周一、每月第1个周一推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送周、月度报告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1307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·过程鼓励：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T+7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T+14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音视频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呼入，鼓励坚持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spcBef>
                <a:spcPts val="5"/>
              </a:spcBef>
              <a:tabLst/>
            </a:pP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·动态跟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进：连续3次反馈睡不好，每月医生主动回访、调整方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0099" y="3257550"/>
            <a:ext cx="2336840" cy="1968520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749136" y="230680"/>
            <a:ext cx="9244965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b="1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平时享</a:t>
            </a:r>
            <a:r>
              <a:rPr sz="3400" b="1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健康：睡眠管理，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3步陪伴改善，助您睡得</a:t>
            </a:r>
            <a:r>
              <a:rPr sz="3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3956039" y="3305485"/>
            <a:ext cx="2110739" cy="1786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62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·睡眠专家定制个性化睡眠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报告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462"/>
              </a:lnSpc>
              <a:spcBef>
                <a:spcPts val="1338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2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医生管家解读睡眠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报告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476"/>
              </a:lnSpc>
              <a:spcBef>
                <a:spcPts val="1553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·个性化定制方案和改善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726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1300" i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认知行为干预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698"/>
              </a:spcBef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1300" i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环境调节、情绪疏</a:t>
            </a:r>
            <a:r>
              <a:rPr sz="1300" i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1300" i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治疗建议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730280" y="4105539"/>
            <a:ext cx="2242820" cy="1548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5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智能设备监测睡眠数据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服务开启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1300" y="1543050"/>
            <a:ext cx="1371600" cy="1225524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27099" y="2965467"/>
            <a:ext cx="958900" cy="946129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76760" y="2089153"/>
            <a:ext cx="958779" cy="939820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858000" y="863627"/>
            <a:ext cx="971580" cy="927064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952540" y="1045967"/>
            <a:ext cx="1670685" cy="518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1615" algn="l" rtl="0" eaLnBrk="0">
              <a:lnSpc>
                <a:spcPct val="94000"/>
              </a:lnSpc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一位失眠者的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6"/>
              </a:spcBef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专属安睡管理之旅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9042419" y="4001102"/>
            <a:ext cx="18732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3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2600" kern="0" spc="-200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帮您</a:t>
            </a:r>
            <a:r>
              <a:rPr sz="2600" kern="0" spc="-190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改善睡</a:t>
            </a:r>
            <a:r>
              <a:rPr sz="2600" kern="0" spc="-110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眠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0121919" y="0"/>
            <a:ext cx="2063740" cy="273016"/>
            <a:chOff x="0" y="0"/>
            <a:chExt cx="2063740" cy="273016"/>
          </a:xfrm>
        </p:grpSpPr>
        <p:pic>
          <p:nvPicPr>
            <p:cNvPr id="252" name="picture 25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063740" cy="273016"/>
            </a:xfrm>
            <a:prstGeom prst="rect">
              <a:avLst/>
            </a:prstGeom>
          </p:spPr>
        </p:pic>
        <p:sp>
          <p:nvSpPr>
            <p:cNvPr id="254" name="textbox 254"/>
            <p:cNvSpPr/>
            <p:nvPr/>
          </p:nvSpPr>
          <p:spPr>
            <a:xfrm>
              <a:off x="-12700" y="-12700"/>
              <a:ext cx="2089150" cy="320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ts val="1594"/>
                </a:lnSpc>
                <a:spcBef>
                  <a:spcPts val="3"/>
                </a:spcBef>
                <a:tabLst/>
              </a:pPr>
              <a:r>
                <a:rPr sz="13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七分“养”</a:t>
              </a:r>
              <a:r>
                <a:rPr sz="1300" kern="0" spc="2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三分“治</a:t>
              </a:r>
              <a:r>
                <a:rPr sz="1300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”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56" name="textbox 256"/>
          <p:cNvSpPr/>
          <p:nvPr/>
        </p:nvSpPr>
        <p:spPr>
          <a:xfrm>
            <a:off x="3854480" y="5645911"/>
            <a:ext cx="1393189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两周累计6天数据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600418" y="5334015"/>
            <a:ext cx="311139" cy="292082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11791960" y="6577478"/>
            <a:ext cx="17208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67"/>
              </a:lnSpc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endParaRPr sz="1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4540280" y="2377690"/>
            <a:ext cx="3106420" cy="3018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77264" algn="l" rtl="0" eaLnBrk="0">
              <a:lnSpc>
                <a:spcPct val="98000"/>
              </a:lnSpc>
              <a:tabLst/>
            </a:pP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机能改善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593725" algn="l" rtl="0" eaLnBrk="0">
              <a:lnSpc>
                <a:spcPct val="97000"/>
              </a:lnSpc>
              <a:spcBef>
                <a:spcPts val="1304"/>
              </a:spcBef>
              <a:tabLst/>
            </a:pPr>
            <a:r>
              <a:rPr sz="2100" b="1" kern="0" spc="-3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心肺耐力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-呼吸顺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11"/>
              </a:spcBef>
              <a:tabLst/>
            </a:pPr>
            <a:r>
              <a:rPr sz="1700" kern="0" spc="32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科学运动，康复训练有活力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856614" algn="l" rtl="0" eaLnBrk="0">
              <a:lnSpc>
                <a:spcPct val="98000"/>
              </a:lnSpc>
              <a:spcBef>
                <a:spcPts val="299"/>
              </a:spcBef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医疗级训练方案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647065" algn="l" rtl="0" eaLnBrk="0">
              <a:lnSpc>
                <a:spcPts val="2385"/>
              </a:lnSpc>
              <a:spcBef>
                <a:spcPts val="179"/>
              </a:spcBef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适老化运动“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keep”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53365" algn="l" rtl="0" eaLnBrk="0">
              <a:lnSpc>
                <a:spcPct val="85000"/>
              </a:lnSpc>
              <a:spcBef>
                <a:spcPts val="884"/>
              </a:spcBef>
              <a:tabLst/>
            </a:pP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安全可靠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53365" algn="l" rtl="0" eaLnBrk="0">
              <a:lnSpc>
                <a:spcPts val="294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科学专业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53365" algn="l" rtl="0" eaLnBrk="0">
              <a:lnSpc>
                <a:spcPts val="2906"/>
              </a:lnSpc>
              <a:tabLst/>
            </a:pP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操作简单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831839" y="2825612"/>
            <a:ext cx="3097529" cy="2621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8175" algn="l" rtl="0" eaLnBrk="0">
              <a:lnSpc>
                <a:spcPct val="98000"/>
              </a:lnSpc>
              <a:tabLst/>
            </a:pPr>
            <a:r>
              <a:rPr sz="2100" b="1" kern="0" spc="-5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稳肌守护</a:t>
            </a: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走得稳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638"/>
              </a:spcBef>
              <a:tabLst/>
            </a:pPr>
            <a:r>
              <a:rPr sz="2100" kern="0" spc="-8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足不出户，享三甲专业方案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570865" algn="l" rtl="0" eaLnBrk="0">
              <a:lnSpc>
                <a:spcPct val="98000"/>
              </a:lnSpc>
              <a:spcBef>
                <a:spcPts val="1212"/>
              </a:spcBef>
              <a:tabLst/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“营养+运动”综合干预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96000"/>
              </a:lnSpc>
              <a:spcBef>
                <a:spcPts val="522"/>
              </a:spcBef>
              <a:tabLst/>
            </a:pP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3师共管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381000" algn="l" rtl="0" eaLnBrk="0">
              <a:lnSpc>
                <a:spcPct val="96000"/>
              </a:lnSpc>
              <a:spcBef>
                <a:spcPts val="1067"/>
              </a:spcBef>
              <a:tabLst/>
            </a:pP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5维评估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4重管理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8420140" y="2830336"/>
            <a:ext cx="2834004" cy="2598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98000"/>
              </a:lnSpc>
              <a:tabLst/>
            </a:pPr>
            <a:r>
              <a:rPr sz="2100" kern="0" spc="-6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膝关节干细胞</a:t>
            </a:r>
            <a:r>
              <a:rPr sz="2100" kern="0" spc="-60" dirty="0">
                <a:solidFill>
                  <a:srgbClr val="D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更灵</a:t>
            </a: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活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637"/>
              </a:spcBef>
              <a:tabLst/>
            </a:pPr>
            <a:r>
              <a:rPr sz="2100" kern="0" spc="-9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前沿严选，全程就医陪伴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793115" algn="l" rtl="0" eaLnBrk="0">
              <a:lnSpc>
                <a:spcPct val="95000"/>
              </a:lnSpc>
              <a:spcBef>
                <a:spcPts val="467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权威资源对接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793115" algn="l" rtl="0" eaLnBrk="0">
              <a:lnSpc>
                <a:spcPct val="85000"/>
              </a:lnSpc>
              <a:spcBef>
                <a:spcPts val="716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全程就医陪伴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ts val="2847"/>
              </a:lnSpc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权威资源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ct val="85000"/>
              </a:lnSpc>
              <a:spcBef>
                <a:spcPts val="1167"/>
              </a:spcBef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根源修复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ts val="3011"/>
              </a:lnSpc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安心无忧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184200" y="6392610"/>
            <a:ext cx="11431269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79" rIns="0" bIns="0"/>
          <a:lstStyle/>
          <a:p>
            <a:pPr marL="12700" algn="l" rtl="0" eaLnBrk="0">
              <a:lnSpc>
                <a:spcPct val="108000"/>
              </a:lnSpc>
              <a:spcBef>
                <a:spcPts val="5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数据来源：80%数据来源是美国心脏歇会(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AHA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科学声明2022:国内运动医学共识，骨关节炎导致跌倒骨折风险增加，髋部骨折后1年内死亡率高达20-30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%来源《中国骨关节炎诊疗指南》(2021版)和世界卫生组织(</a:t>
            </a:r>
            <a:r>
              <a:rPr sz="9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WWHO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骨关节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炎报告，《中华医学会杂志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》2021、《柳叶刀》全球疾病负担研究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3000"/>
              </a:lnSpc>
              <a:spcBef>
                <a:spcPts val="7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注：1、“膝关节干细胞”服务由平安健康互联网股份有限公司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(简称“平安好医生”)及/或具有经营资质的第三方服务商提供，客户可按需自主选购。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644700" y="5861052"/>
            <a:ext cx="9138284" cy="489584"/>
          </a:xfrm>
          <a:prstGeom prst="rect">
            <a:avLst/>
          </a:prstGeom>
          <a:solidFill>
            <a:srgbClr val="E2F0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以专业方案、主动管理和前沿医疗</a:t>
            </a: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资源，助您走得稳、呼吸顺、关节更灵活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749300" y="236946"/>
            <a:ext cx="7385684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平时享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健康：机能改善，助您养出好</a:t>
            </a: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状</a:t>
            </a:r>
            <a:r>
              <a:rPr sz="34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态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2336820" y="1391458"/>
            <a:ext cx="1504950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肌少症死亡风险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437515" algn="l" rtl="0" eaLnBrk="0">
              <a:lnSpc>
                <a:spcPts val="3203"/>
              </a:lnSpc>
              <a:spcBef>
                <a:spcPts val="395"/>
              </a:spcBef>
              <a:tabLst/>
            </a:pPr>
            <a:r>
              <a:rPr sz="2000" kern="0" spc="-7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79%</a:t>
            </a:r>
            <a:r>
              <a:rPr sz="2000" kern="0" spc="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46519" y="1657372"/>
            <a:ext cx="279318" cy="425401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4337060" y="908067"/>
            <a:ext cx="3181985" cy="317500"/>
          </a:xfrm>
          <a:prstGeom prst="rect">
            <a:avLst/>
          </a:prstGeom>
          <a:solidFill>
            <a:srgbClr val="E2F0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7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8465" algn="l" rtl="0" eaLnBrk="0">
              <a:lnSpc>
                <a:spcPct val="97000"/>
              </a:lnSpc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机能衰退“三宗罪”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5835680" y="1391458"/>
            <a:ext cx="1441450" cy="722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运动猝死风险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367665" algn="l" rtl="0" eaLnBrk="0">
              <a:lnSpc>
                <a:spcPts val="2930"/>
              </a:lnSpc>
              <a:spcBef>
                <a:spcPts val="608"/>
              </a:spcBef>
              <a:tabLst/>
            </a:pPr>
            <a:r>
              <a:rPr sz="2100" kern="0" spc="-12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r>
              <a:rPr sz="2100" kern="0" spc="0" dirty="0">
                <a:solidFill>
                  <a:srgbClr val="C07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75374" y="1657373"/>
            <a:ext cx="285658" cy="43815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10128259" y="0"/>
            <a:ext cx="2057400" cy="279394"/>
            <a:chOff x="0" y="0"/>
            <a:chExt cx="2057400" cy="279394"/>
          </a:xfrm>
        </p:grpSpPr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057400" cy="279394"/>
            </a:xfrm>
            <a:prstGeom prst="rect">
              <a:avLst/>
            </a:prstGeom>
          </p:spPr>
        </p:pic>
        <p:sp>
          <p:nvSpPr>
            <p:cNvPr id="288" name="textbox 288"/>
            <p:cNvSpPr/>
            <p:nvPr/>
          </p:nvSpPr>
          <p:spPr>
            <a:xfrm>
              <a:off x="-12700" y="-12700"/>
              <a:ext cx="2083435" cy="3263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13664" algn="l" rtl="0" eaLnBrk="0">
                <a:lnSpc>
                  <a:spcPts val="1594"/>
                </a:lnSpc>
                <a:spcBef>
                  <a:spcPts val="3"/>
                </a:spcBef>
                <a:tabLst/>
              </a:pPr>
              <a:r>
                <a:rPr sz="13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七分“养”</a:t>
              </a:r>
              <a:r>
                <a:rPr sz="1300" kern="0" spc="2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三分“治</a:t>
              </a:r>
              <a:r>
                <a:rPr sz="1300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”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90" name="textbox 290"/>
          <p:cNvSpPr/>
          <p:nvPr/>
        </p:nvSpPr>
        <p:spPr>
          <a:xfrm>
            <a:off x="9512299" y="1392321"/>
            <a:ext cx="851535" cy="721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跌倒风险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2100" b="1" kern="0" spc="6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2-3倍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1517639" y="1394412"/>
            <a:ext cx="575944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97000"/>
              </a:lnSpc>
              <a:tabLst/>
            </a:pPr>
            <a:r>
              <a:rPr sz="2100" kern="0" spc="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肌肉</a:t>
            </a:r>
            <a:r>
              <a:rPr sz="2100" kern="0" spc="-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流失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4959319" y="1398508"/>
            <a:ext cx="564515" cy="643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97000"/>
              </a:lnSpc>
              <a:tabLst/>
            </a:pPr>
            <a:r>
              <a:rPr sz="2100" kern="0" spc="-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心肺</a:t>
            </a:r>
            <a:r>
              <a:rPr sz="2100" kern="0" spc="-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4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衰退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8439159" y="1403725"/>
            <a:ext cx="563244" cy="638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96000"/>
              </a:lnSpc>
              <a:tabLst/>
            </a:pPr>
            <a:r>
              <a:rPr sz="2100" kern="0" spc="-4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关节</a:t>
            </a:r>
            <a:r>
              <a:rPr sz="2100" kern="0" spc="-1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磨损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298" name="picture 2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439400" y="1657372"/>
            <a:ext cx="298460" cy="4254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298439" y="5662325"/>
            <a:ext cx="11684634" cy="1146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89400" algn="l" rtl="0" eaLnBrk="0">
              <a:lnSpc>
                <a:spcPct val="92000"/>
              </a:lnSpc>
              <a:tabLst/>
            </a:pP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周女士：“现在感觉身体有劲了，经常</a:t>
            </a: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和朋友去旅行，心情很舒畅。”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310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注：1、本材料仅作为特定场景或情形下对应服务内容和流程的演示与参考，受时长、篇幅及演绎能力等诸多因素限制无法如实、完整展示服务全貌，不能代表服务实际情况。本材料不作为对服务结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果或效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果任何形式或性质的承诺与保证，因个体差异等诸多因素影响，服务效果有所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不同，请以实际使用情况为准。2、本材料所涉医生管家服务属于健康管理服务，系由平安健康互联网股份有限公司及/或具有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经营资质的第三方服务商(以下简称“第三方”)提供，相关服务不以诊断、治疗疾病为目的，亦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不具备治疗功效。服务所涉评估/咨询结果仅作为健康咨询类建议参考，不作为诊断、确诊和治疗依据，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611"/>
              </a:lnSpc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不能代替医生面诊和医院诊断，请谨慎参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考。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                    </a:t>
            </a:r>
            <a:r>
              <a:rPr sz="2000" kern="0" spc="-9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endParaRPr sz="2000" baseline="1000" dirty="0">
              <a:latin typeface="Arial"/>
              <a:ea typeface="Arial"/>
              <a:cs typeface="Arial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8813820" y="1200577"/>
            <a:ext cx="2376170" cy="399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Step3   </a:t>
            </a:r>
            <a:r>
              <a:rPr sz="1700" kern="0" spc="-7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长达3个月持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609600" algn="l" rtl="0" eaLnBrk="0">
              <a:lnSpc>
                <a:spcPts val="2253"/>
              </a:lnSpc>
              <a:tabLst/>
            </a:pPr>
            <a:r>
              <a:rPr sz="1700" kern="0" spc="-5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续的跟进服务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7200" algn="l" rtl="0" eaLnBrk="0">
              <a:lnSpc>
                <a:spcPct val="96000"/>
              </a:lnSpc>
              <a:spcBef>
                <a:spcPts val="394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持续跟进3个月后复测：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8315" algn="l" rtl="0" eaLnBrk="0">
              <a:lnSpc>
                <a:spcPct val="85000"/>
              </a:lnSpc>
              <a:spcBef>
                <a:spcPts val="399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四肢肌肉更有力量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88315" algn="l" rtl="0" eaLnBrk="0">
              <a:lnSpc>
                <a:spcPts val="2750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步态行走更加稳健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8315" algn="l" rtl="0" eaLnBrk="0">
              <a:lnSpc>
                <a:spcPct val="96000"/>
              </a:lnSpc>
              <a:spcBef>
                <a:spcPts val="393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运动平衡更能协调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31850" algn="l" rtl="0" eaLnBrk="0">
              <a:lnSpc>
                <a:spcPct val="120000"/>
              </a:lnSpc>
              <a:spcBef>
                <a:spcPts val="1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恢复进展记入档案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跟进情况实时介入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3746459" y="2306698"/>
            <a:ext cx="1748789" cy="2885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400" kern="0" spc="-20" baseline="2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Stepl.</a:t>
            </a: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-20" dirty="0">
                <a:solidFill>
                  <a:srgbClr val="C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</a:t>
            </a:r>
            <a:r>
              <a:rPr sz="1700" kern="0" spc="-20" dirty="0">
                <a:solidFill>
                  <a:srgbClr val="D08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评估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666750" algn="l" rtl="0" eaLnBrk="0">
              <a:lnSpc>
                <a:spcPct val="96000"/>
              </a:lnSpc>
              <a:spcBef>
                <a:spcPts val="173"/>
              </a:spcBef>
              <a:tabLst/>
            </a:pPr>
            <a:r>
              <a:rPr sz="1700" kern="0" spc="-6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筛查风险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39750" algn="l" rtl="0" eaLnBrk="0">
              <a:lnSpc>
                <a:spcPct val="85000"/>
              </a:lnSpc>
              <a:spcBef>
                <a:spcPts val="426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√评估日常营养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39750" algn="l" rtl="0" eaLnBrk="0">
              <a:lnSpc>
                <a:spcPct val="141000"/>
              </a:lnSpc>
              <a:spcBef>
                <a:spcPts val="27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评估运动能力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评估肌肉状态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评估平衡状态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85000"/>
              </a:lnSpc>
              <a:spcBef>
                <a:spcPts val="462"/>
              </a:spcBef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生活管家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77800" algn="l" rtl="0" eaLnBrk="0">
              <a:lnSpc>
                <a:spcPts val="1852"/>
              </a:lnSpc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主动关怀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6394439" y="1785075"/>
            <a:ext cx="1723389" cy="2300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8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6915" indent="-704215" algn="l" rtl="0" eaLnBrk="0">
              <a:lnSpc>
                <a:spcPct val="104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Step2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600" kern="0" spc="-2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三重跟练</a:t>
            </a:r>
            <a:r>
              <a:rPr sz="1600" kern="0" spc="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kern="0" spc="-7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守护服务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95000"/>
              </a:lnSpc>
              <a:spcBef>
                <a:spcPts val="397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制定专属方案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869314" algn="l" rtl="0" eaLnBrk="0">
              <a:lnSpc>
                <a:spcPct val="115000"/>
              </a:lnSpc>
              <a:spcBef>
                <a:spcPts val="429"/>
              </a:spcBef>
              <a:tabLst/>
            </a:pPr>
            <a:r>
              <a:rPr sz="1100" kern="0" spc="4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膳食指导</a:t>
            </a:r>
            <a:r>
              <a:rPr sz="1100" kern="0" spc="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2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营养补充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69314" algn="l" rtl="0" eaLnBrk="0">
              <a:lnSpc>
                <a:spcPct val="96000"/>
              </a:lnSpc>
              <a:spcBef>
                <a:spcPts val="192"/>
              </a:spcBef>
              <a:tabLst/>
            </a:pPr>
            <a:r>
              <a:rPr sz="1100" kern="0" spc="4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运动指导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14350" algn="l" rtl="0" eaLnBrk="0">
              <a:lnSpc>
                <a:spcPct val="85000"/>
              </a:lnSpc>
              <a:spcBef>
                <a:spcPts val="431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建立社群陪伴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2605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联动家属协同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1276360" y="1746914"/>
            <a:ext cx="1053464" cy="3703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100" b="1" kern="0" spc="-60" dirty="0">
                <a:solidFill>
                  <a:srgbClr val="C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周女士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9415" algn="l" rtl="0" eaLnBrk="0">
              <a:lnSpc>
                <a:spcPct val="97000"/>
              </a:lnSpc>
              <a:spcBef>
                <a:spcPts val="393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55</a:t>
            </a:r>
            <a:r>
              <a:rPr sz="1300" kern="0" spc="-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岁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5"/>
              </a:spcBef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病后康复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1"/>
              </a:spcBef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肌肉流失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5"/>
              </a:spcBef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独居生活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营养不均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742960" y="236946"/>
            <a:ext cx="821055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案例：重拾健康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信心，周女士的稳肌守护之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旅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5518200" y="4748880"/>
            <a:ext cx="1556385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4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暖心关怀恢复情况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5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告知子女提醒关怀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5527611" y="1604071"/>
            <a:ext cx="627380" cy="1034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942"/>
              </a:lnSpc>
              <a:tabLst/>
            </a:pPr>
            <a:r>
              <a:rPr sz="5200" b="1" kern="0" spc="-5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究</a:t>
            </a:r>
            <a:endParaRPr sz="5200" dirty="0">
              <a:latin typeface="SimSun"/>
              <a:ea typeface="SimSun"/>
              <a:cs typeface="SimSun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0128259" y="0"/>
            <a:ext cx="2057400" cy="273016"/>
            <a:chOff x="0" y="0"/>
            <a:chExt cx="2057400" cy="273016"/>
          </a:xfrm>
        </p:grpSpPr>
        <p:pic>
          <p:nvPicPr>
            <p:cNvPr id="318" name="picture 3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057400" cy="273016"/>
            </a:xfrm>
            <a:prstGeom prst="rect">
              <a:avLst/>
            </a:prstGeom>
          </p:spPr>
        </p:pic>
        <p:sp>
          <p:nvSpPr>
            <p:cNvPr id="320" name="textbox 320"/>
            <p:cNvSpPr/>
            <p:nvPr/>
          </p:nvSpPr>
          <p:spPr>
            <a:xfrm>
              <a:off x="-12700" y="-12700"/>
              <a:ext cx="2083435" cy="320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13664" algn="l" rtl="0" eaLnBrk="0">
                <a:lnSpc>
                  <a:spcPts val="1594"/>
                </a:lnSpc>
                <a:spcBef>
                  <a:spcPts val="3"/>
                </a:spcBef>
                <a:tabLst/>
              </a:pP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七分“养”</a:t>
              </a:r>
              <a:r>
                <a:rPr sz="1300" kern="0" spc="2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三分“治”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22" name="textbox 322"/>
          <p:cNvSpPr/>
          <p:nvPr/>
        </p:nvSpPr>
        <p:spPr>
          <a:xfrm>
            <a:off x="8019998" y="4750523"/>
            <a:ext cx="765809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医生管家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季度随访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1028740" y="1458688"/>
            <a:ext cx="2308225" cy="402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6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多种慢病难管理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98000"/>
              </a:lnSpc>
              <a:spcBef>
                <a:spcPts val="577"/>
              </a:spcBef>
              <a:tabLst/>
            </a:pPr>
            <a:r>
              <a:rPr sz="1900" kern="0" spc="-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多病占比高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539750" algn="l" rtl="0" eaLnBrk="0">
              <a:lnSpc>
                <a:spcPct val="95000"/>
              </a:lnSpc>
              <a:spcBef>
                <a:spcPts val="193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我国慢病患病率高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602615" algn="l" rtl="0" eaLnBrk="0">
              <a:lnSpc>
                <a:spcPts val="2726"/>
              </a:lnSpc>
              <a:spcBef>
                <a:spcPts val="484"/>
              </a:spcBef>
              <a:tabLst/>
            </a:pPr>
            <a:r>
              <a:rPr sz="2000" b="1" kern="0" spc="-40" dirty="0">
                <a:solidFill>
                  <a:srgbClr val="C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40%~</a:t>
            </a:r>
            <a:r>
              <a:rPr sz="2000" kern="0" spc="-40" dirty="0">
                <a:solidFill>
                  <a:srgbClr val="C07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50%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0715" algn="l" rtl="0" eaLnBrk="0">
              <a:lnSpc>
                <a:spcPct val="98000"/>
              </a:lnSpc>
              <a:spcBef>
                <a:spcPts val="581"/>
              </a:spcBef>
              <a:tabLst/>
            </a:pPr>
            <a:r>
              <a:rPr sz="1900" kern="0" spc="-3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多重用药危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399415" algn="l" rtl="0" eaLnBrk="0">
              <a:lnSpc>
                <a:spcPct val="96000"/>
              </a:lnSpc>
              <a:spcBef>
                <a:spcPts val="397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每年因药物不良反应住院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704215" algn="l" rtl="0" eaLnBrk="0">
              <a:lnSpc>
                <a:spcPct val="99000"/>
              </a:lnSpc>
              <a:spcBef>
                <a:spcPts val="446"/>
              </a:spcBef>
              <a:tabLst/>
            </a:pPr>
            <a:r>
              <a:rPr sz="21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250万人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2300" algn="l" rtl="0" eaLnBrk="0">
              <a:lnSpc>
                <a:spcPct val="98000"/>
              </a:lnSpc>
              <a:spcBef>
                <a:spcPts val="571"/>
              </a:spcBef>
              <a:tabLst/>
            </a:pPr>
            <a:r>
              <a:rPr sz="1900" kern="0" spc="-7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管理难坚持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243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无法有效自主健康管理的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850900" algn="l" rtl="0" eaLnBrk="0">
              <a:lnSpc>
                <a:spcPct val="100000"/>
              </a:lnSpc>
              <a:spcBef>
                <a:spcPts val="7"/>
              </a:spcBef>
              <a:tabLst/>
            </a:pPr>
            <a:r>
              <a:rPr sz="1900" kern="0" spc="23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超70%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539719" y="294073"/>
            <a:ext cx="10659109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慢病有人管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：多病共管，让您慢病管理和合理用药不再烦</a:t>
            </a:r>
            <a:r>
              <a:rPr sz="3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忧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196880" y="6544995"/>
            <a:ext cx="11782425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71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数据来源：《中国居民营养与慢性病状况报告(2020年)》及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后续疾控监测数据；国家药品监督管理局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(NMPA</a:t>
            </a:r>
            <a:r>
              <a:rPr sz="9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年度药品不良反应监测年度报告；国家卫生健康委员会《2023年我国居民健康素养监测结果》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2000" kern="0" spc="0" baseline="-2141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000" kern="0" spc="0" baseline="-21412" dirty="0">
                <a:solidFill>
                  <a:srgbClr val="304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2000" baseline="-21412" dirty="0">
              <a:latin typeface="Arial"/>
              <a:ea typeface="Arial"/>
              <a:cs typeface="Arial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5016499" y="1947952"/>
            <a:ext cx="1490980" cy="1686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6000"/>
              </a:lnSpc>
              <a:tabLst/>
            </a:pPr>
            <a:r>
              <a:rPr sz="2000" kern="0" spc="3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5师</a:t>
            </a:r>
            <a:r>
              <a:rPr sz="2000" kern="0" spc="30" dirty="0">
                <a:solidFill>
                  <a:srgbClr val="7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协同共管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96"/>
              </a:lnSpc>
              <a:spcBef>
                <a:spcPts val="619"/>
              </a:spcBef>
              <a:tabLst/>
            </a:pPr>
            <a:r>
              <a:rPr sz="16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医生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53"/>
              </a:lnSpc>
              <a:spcBef>
                <a:spcPts val="6"/>
              </a:spcBef>
              <a:tabLst/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个案管理师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53"/>
              </a:lnSpc>
              <a:spcBef>
                <a:spcPts val="97"/>
              </a:spcBef>
              <a:tabLst/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健康管理师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870"/>
              </a:lnSpc>
              <a:spcBef>
                <a:spcPts val="176"/>
              </a:spcBef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营养师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46"/>
              </a:lnSpc>
              <a:spcBef>
                <a:spcPts val="143"/>
              </a:spcBef>
              <a:tabLst/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心理咨询师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8839179" y="1933943"/>
            <a:ext cx="1534160" cy="154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2100" kern="0" spc="-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4大</a:t>
            </a:r>
            <a:r>
              <a:rPr sz="2100" kern="0" spc="-60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维度管理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3000"/>
              </a:lnSpc>
              <a:spcBef>
                <a:spcPts val="1679"/>
              </a:spcBef>
              <a:tabLst/>
            </a:pP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药物管理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15"/>
              </a:spcBef>
              <a:tabLst/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疾病整合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34"/>
              </a:lnSpc>
              <a:spcBef>
                <a:spcPts val="115"/>
              </a:spcBef>
              <a:tabLst/>
            </a:pP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生活方式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265"/>
              </a:spcBef>
              <a:tabLst/>
            </a:pPr>
            <a:r>
              <a:rPr sz="16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全程支持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5016500" y="4074107"/>
            <a:ext cx="5464175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03"/>
              </a:lnSpc>
              <a:tabLst/>
            </a:pPr>
            <a:r>
              <a:rPr sz="3300" kern="0" spc="-100" baseline="-2517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3300" kern="0" spc="-90" baseline="-2517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</a:t>
            </a:r>
            <a:r>
              <a:rPr sz="3300" kern="0" spc="-90" baseline="-2517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稀缺资源</a:t>
            </a:r>
            <a:r>
              <a:rPr sz="2100" kern="0" spc="-90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</a:t>
            </a:r>
            <a:r>
              <a:rPr sz="3300" kern="0" spc="-90" baseline="6953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1个</a:t>
            </a:r>
            <a:r>
              <a:rPr sz="3300" kern="0" spc="-90" baseline="6953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监测设</a:t>
            </a:r>
            <a:r>
              <a:rPr sz="3300" kern="0" spc="-80" baseline="6953" dirty="0">
                <a:solidFill>
                  <a:srgbClr val="8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备</a:t>
            </a:r>
            <a:endParaRPr sz="3300" baseline="6953" dirty="0">
              <a:latin typeface="SimHei"/>
              <a:ea typeface="SimHei"/>
              <a:cs typeface="SimHei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4787900" y="5737644"/>
            <a:ext cx="5904229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协同共管多病和用药，让您吃</a:t>
            </a: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对药、少吃药、更安全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8801140" y="4776813"/>
            <a:ext cx="2146300" cy="534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700" kern="0" spc="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血压、血糖等多指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92"/>
              </a:spcBef>
              <a:tabLst/>
            </a:pP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700" kern="0" spc="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数据直连管家平台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6476979" y="1218744"/>
            <a:ext cx="2674620" cy="405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26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慢病</a:t>
            </a:r>
            <a:r>
              <a:rPr sz="26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管理-多病共</a:t>
            </a:r>
            <a:r>
              <a:rPr sz="26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5054660" y="4724725"/>
            <a:ext cx="1152525" cy="819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5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门诊直连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46"/>
              </a:lnSpc>
              <a:spcBef>
                <a:spcPts val="182"/>
              </a:spcBef>
              <a:tabLst/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名医直连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40"/>
              </a:lnSpc>
              <a:spcBef>
                <a:spcPts val="348"/>
              </a:spcBef>
              <a:tabLst/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5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8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特色用药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10121919" y="0"/>
            <a:ext cx="2063740" cy="273016"/>
            <a:chOff x="0" y="0"/>
            <a:chExt cx="2063740" cy="273016"/>
          </a:xfrm>
        </p:grpSpPr>
        <p:pic>
          <p:nvPicPr>
            <p:cNvPr id="346" name="picture 3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063740" cy="273016"/>
            </a:xfrm>
            <a:prstGeom prst="rect">
              <a:avLst/>
            </a:prstGeom>
          </p:spPr>
        </p:pic>
        <p:sp>
          <p:nvSpPr>
            <p:cNvPr id="348" name="textbox 348"/>
            <p:cNvSpPr/>
            <p:nvPr/>
          </p:nvSpPr>
          <p:spPr>
            <a:xfrm>
              <a:off x="-12700" y="-12700"/>
              <a:ext cx="2089150" cy="320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ts val="1594"/>
                </a:lnSpc>
                <a:spcBef>
                  <a:spcPts val="3"/>
                </a:spcBef>
                <a:tabLst/>
              </a:pPr>
              <a:r>
                <a:rPr sz="13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七分“养”</a:t>
              </a:r>
              <a:r>
                <a:rPr sz="1300" kern="0" spc="2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三分“治</a:t>
              </a:r>
              <a:r>
                <a:rPr sz="1300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”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picture 3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215403" y="287807"/>
            <a:ext cx="1186053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b="1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就医</a:t>
            </a:r>
            <a:r>
              <a:rPr sz="3400" b="1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有人帮：就医全帮办，贴心“五帮”全程相伴，</a:t>
            </a:r>
            <a:r>
              <a:rPr sz="3400" b="1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助您轻松就</a:t>
            </a:r>
            <a:r>
              <a:rPr sz="3400" b="1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4070400" y="2627975"/>
            <a:ext cx="3638550" cy="863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安排陪诊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472564" algn="l" rtl="0" eaLnBrk="0">
              <a:lnSpc>
                <a:spcPct val="95000"/>
              </a:lnSpc>
              <a:spcBef>
                <a:spcPts val="918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待办清单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预约专家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3858021" y="5474505"/>
            <a:ext cx="4865370" cy="634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96"/>
              </a:lnSpc>
              <a:tabLst/>
            </a:pPr>
            <a:r>
              <a:rPr sz="2600" kern="0" spc="10" baseline="6071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诊前</a:t>
            </a:r>
            <a:r>
              <a:rPr sz="1600" kern="0" spc="10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</a:t>
            </a:r>
            <a:r>
              <a:rPr sz="2600" kern="0" spc="10" baseline="-1942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诊中</a:t>
            </a:r>
            <a:r>
              <a:rPr sz="2600" kern="0" spc="10" baseline="-1942" dirty="0">
                <a:solidFill>
                  <a:srgbClr val="509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endParaRPr sz="2600" baseline="-1942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19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就医全帮办，帮您扫清</a:t>
            </a:r>
            <a:r>
              <a:rPr sz="19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全流程就医障碍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2025680" y="2216835"/>
            <a:ext cx="1137919" cy="2019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专家一号难求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spcBef>
                <a:spcPts val="453"/>
              </a:spcBef>
              <a:tabLst/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独居无人陪伴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450"/>
              </a:spcBef>
              <a:tabLst/>
            </a:pP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就诊过程繁琐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ct val="85000"/>
              </a:lnSpc>
              <a:spcBef>
                <a:spcPts val="337"/>
              </a:spcBef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你说的我不懂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8264" algn="l" rtl="0" eaLnBrk="0">
              <a:lnSpc>
                <a:spcPts val="1402"/>
              </a:lnSpc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反正就是难受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4102120" y="1022322"/>
            <a:ext cx="3867784" cy="470534"/>
          </a:xfrm>
          <a:prstGeom prst="rect">
            <a:avLst/>
          </a:prstGeom>
          <a:solidFill>
            <a:srgbClr val="E1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65860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就医全帮办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927059" y="2204148"/>
            <a:ext cx="816610" cy="207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挂号难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7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没人帮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7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理不顺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2550" indent="5714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挂什么科?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找哪位医生?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4038579" y="4474989"/>
            <a:ext cx="2188845" cy="713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帮准备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帮点诊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10045700" y="1949214"/>
            <a:ext cx="809625" cy="1521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康复计划书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85089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6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帮恢复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8483660" y="2355619"/>
            <a:ext cx="668019" cy="1530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医攻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略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帮表达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6461222" y="1630231"/>
            <a:ext cx="2754629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19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诊前-诊中-诊后全流程协助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1247971" y="1604857"/>
            <a:ext cx="1637664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19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就诊面对三大难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74" name="textbox 374"/>
          <p:cNvSpPr/>
          <p:nvPr/>
        </p:nvSpPr>
        <p:spPr>
          <a:xfrm>
            <a:off x="711260" y="4600315"/>
            <a:ext cx="817880" cy="518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今天不能看病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要拿什么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CT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片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才行?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76" name="rect 376"/>
          <p:cNvSpPr/>
          <p:nvPr/>
        </p:nvSpPr>
        <p:spPr>
          <a:xfrm>
            <a:off x="10121919" y="0"/>
            <a:ext cx="1015959" cy="273016"/>
          </a:xfrm>
          <a:prstGeom prst="rect">
            <a:avLst/>
          </a:pr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textbox 378"/>
          <p:cNvSpPr/>
          <p:nvPr/>
        </p:nvSpPr>
        <p:spPr>
          <a:xfrm>
            <a:off x="10109219" y="63265"/>
            <a:ext cx="2073275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83"/>
              </a:lnSpc>
              <a:tabLst>
                <a:tab pos="120014" algn="l"/>
              </a:tabLst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七分“养”</a:t>
            </a:r>
            <a:r>
              <a:rPr sz="1300" kern="0" spc="3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三分“治”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2457399" y="4622035"/>
            <a:ext cx="886460" cy="351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先吃哪个药?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6000"/>
              </a:lnSpc>
              <a:spcBef>
                <a:spcPts val="33"/>
              </a:spcBef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哪个是吃半片?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7042201" y="4057990"/>
            <a:ext cx="655955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帮陪诊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11791959" y="6605818"/>
            <a:ext cx="19748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picture 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2209800" y="5962619"/>
            <a:ext cx="7449184" cy="743584"/>
          </a:xfrm>
          <a:prstGeom prst="rect">
            <a:avLst/>
          </a:prstGeom>
          <a:solidFill>
            <a:srgbClr val="E2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5735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看病不再跑断腿，全球名医一键直达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767715" algn="l" rtl="0" eaLnBrk="0">
              <a:lnSpc>
                <a:spcPct val="92000"/>
              </a:lnSpc>
              <a:spcBef>
                <a:spcPts val="82"/>
              </a:spcBef>
              <a:tabLst/>
            </a:pP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从线上问诊到海外找药，全程专人陪您搞定就医难题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390" name="picture 3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26159" y="3740147"/>
            <a:ext cx="2844881" cy="1841510"/>
          </a:xfrm>
          <a:prstGeom prst="rect">
            <a:avLst/>
          </a:prstGeom>
        </p:spPr>
      </p:pic>
      <p:pic>
        <p:nvPicPr>
          <p:cNvPr id="392" name="picture 3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11520" y="4152930"/>
            <a:ext cx="2762219" cy="1612864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9040" y="1955832"/>
            <a:ext cx="2755879" cy="1390596"/>
          </a:xfrm>
          <a:prstGeom prst="rect">
            <a:avLst/>
          </a:prstGeom>
        </p:spPr>
      </p:pic>
      <p:sp>
        <p:nvSpPr>
          <p:cNvPr id="396" name="textbox 396"/>
          <p:cNvSpPr/>
          <p:nvPr/>
        </p:nvSpPr>
        <p:spPr>
          <a:xfrm>
            <a:off x="742960" y="275008"/>
            <a:ext cx="860298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就医有人</a:t>
            </a: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帮：全球就医资</a:t>
            </a:r>
            <a:r>
              <a:rPr sz="3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源，为您敞开就医通</a:t>
            </a:r>
            <a:r>
              <a:rPr sz="3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道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6876998" y="1553175"/>
            <a:ext cx="1726564" cy="1804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ct val="98000"/>
              </a:lnSpc>
              <a:tabLst/>
            </a:pP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海外询医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410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√链接全球领先机构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81000"/>
              </a:lnSpc>
              <a:spcBef>
                <a:spcPts val="84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√提供海外第二诊疗意见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重疾住院协助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协调翻译资源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965220" y="3746996"/>
            <a:ext cx="2025014" cy="149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97000"/>
              </a:lnSpc>
              <a:tabLst/>
            </a:pP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线下就医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√挂号协助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√3</a:t>
            </a:r>
            <a:r>
              <a:rPr sz="13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陪诊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82000"/>
              </a:lnSpc>
              <a:spcBef>
                <a:spcPts val="141"/>
              </a:spcBef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3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专家点诊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出入院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协助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√住院安排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02" name="textbox 402"/>
          <p:cNvSpPr/>
          <p:nvPr/>
        </p:nvSpPr>
        <p:spPr>
          <a:xfrm>
            <a:off x="9378918" y="3743895"/>
            <a:ext cx="1880235" cy="1198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700" algn="l" rtl="0" eaLnBrk="0">
              <a:lnSpc>
                <a:spcPct val="98000"/>
              </a:lnSpc>
              <a:tabLst/>
            </a:pP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海外找药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96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√协助寻找国内外的新特药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855"/>
              </a:lnSpc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√提供合作购药渠道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404" name="picture 4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258361" y="1689125"/>
            <a:ext cx="1727118" cy="1181084"/>
          </a:xfrm>
          <a:prstGeom prst="rect">
            <a:avLst/>
          </a:prstGeom>
        </p:spPr>
      </p:pic>
      <p:sp>
        <p:nvSpPr>
          <p:cNvPr id="406" name="textbox 406"/>
          <p:cNvSpPr/>
          <p:nvPr/>
        </p:nvSpPr>
        <p:spPr>
          <a:xfrm>
            <a:off x="3822659" y="1685376"/>
            <a:ext cx="1682750" cy="1278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3375" algn="l" rtl="0" eaLnBrk="0">
              <a:lnSpc>
                <a:spcPct val="97000"/>
              </a:lnSpc>
              <a:tabLst/>
            </a:pPr>
            <a:r>
              <a:rPr sz="19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线上就医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504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全科&amp;专科音视频问诊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899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多学科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MDT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会诊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√名医三方、名医二诊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6908840" y="920755"/>
            <a:ext cx="3867150" cy="470534"/>
          </a:xfrm>
          <a:prstGeom prst="rect">
            <a:avLst/>
          </a:prstGeom>
          <a:solidFill>
            <a:srgbClr val="E1EF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15364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26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全球询医找药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1498640" y="927133"/>
            <a:ext cx="3860800" cy="463550"/>
          </a:xfrm>
          <a:prstGeom prst="rect">
            <a:avLst/>
          </a:prstGeom>
          <a:solidFill>
            <a:srgbClr val="E2F0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28015" algn="l" rtl="0" eaLnBrk="0">
              <a:lnSpc>
                <a:spcPct val="95000"/>
              </a:lnSpc>
              <a:tabLst/>
            </a:pPr>
            <a:r>
              <a:rPr sz="26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线上/线下就医服务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0121919" y="0"/>
            <a:ext cx="2063740" cy="273016"/>
            <a:chOff x="0" y="0"/>
            <a:chExt cx="2063740" cy="273016"/>
          </a:xfrm>
        </p:grpSpPr>
        <p:pic>
          <p:nvPicPr>
            <p:cNvPr id="412" name="picture 4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063740" cy="273016"/>
            </a:xfrm>
            <a:prstGeom prst="rect">
              <a:avLst/>
            </a:prstGeom>
          </p:spPr>
        </p:pic>
        <p:sp>
          <p:nvSpPr>
            <p:cNvPr id="414" name="textbox 414"/>
            <p:cNvSpPr/>
            <p:nvPr/>
          </p:nvSpPr>
          <p:spPr>
            <a:xfrm>
              <a:off x="-12700" y="-12700"/>
              <a:ext cx="2089150" cy="320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ts val="1583"/>
                </a:lnSpc>
                <a:spcBef>
                  <a:spcPts val="2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七分“养”</a:t>
              </a:r>
              <a:r>
                <a:rPr sz="1300" kern="0" spc="2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三分“治”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16" name="textbox 416"/>
          <p:cNvSpPr/>
          <p:nvPr/>
        </p:nvSpPr>
        <p:spPr>
          <a:xfrm>
            <a:off x="9633001" y="2920126"/>
            <a:ext cx="963294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美国梅奥诊所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18" name="textbox 418"/>
          <p:cNvSpPr/>
          <p:nvPr/>
        </p:nvSpPr>
        <p:spPr>
          <a:xfrm>
            <a:off x="11791960" y="6564290"/>
            <a:ext cx="183514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3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50" dirty="0">
                <a:solidFill>
                  <a:srgbClr val="1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12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22" name="textbox 422"/>
          <p:cNvSpPr/>
          <p:nvPr/>
        </p:nvSpPr>
        <p:spPr>
          <a:xfrm>
            <a:off x="241259" y="5797458"/>
            <a:ext cx="11735434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70350" algn="l" rtl="0" eaLnBrk="0">
              <a:lnSpc>
                <a:spcPct val="95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心里头暖烘烘的!”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921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注：1、本材料仅作为特定场景或情形下对应服务内容和流程的演示与参考，受时长、篇幅及演绎能力等诸多因素限制无法如实、完整展示服务全貌，不能代表服务实际情况。本材料不作为对服务结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果或效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果任何形式或性质的承诺与保证，因个体差异等诸多因素影响，服务效果有所不同，请以实际使用情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况为准。2、本材料所涉医生管家服务属于健康管理服务，系由平安健康互联网股份有限公司及/或具有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经营资质的第三方服务商(以下简称“第三方”)提供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，相关服务不以诊断、治疗疾病为目的，亦不具备治疗功效。服务所涉评估/咨询结果仅作为健康咨询类建议参考，不作为诊断、确诊和治疗依据，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569"/>
              </a:lnSpc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不能代替医生面诊和医院诊断，请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谨慎参考。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                           </a:t>
            </a:r>
            <a:r>
              <a:rPr sz="1900" kern="0" spc="-90" baseline="-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endParaRPr sz="1900" baseline="-1000" dirty="0">
              <a:latin typeface="Arial"/>
              <a:ea typeface="Arial"/>
              <a:cs typeface="Arial"/>
            </a:endParaRPr>
          </a:p>
        </p:txBody>
      </p:sp>
      <p:sp>
        <p:nvSpPr>
          <p:cNvPr id="424" name="rect 424"/>
          <p:cNvSpPr/>
          <p:nvPr/>
        </p:nvSpPr>
        <p:spPr>
          <a:xfrm>
            <a:off x="7505761" y="2190719"/>
            <a:ext cx="927079" cy="266707"/>
          </a:xfrm>
          <a:prstGeom prst="rect">
            <a:avLst/>
          </a:prstGeom>
          <a:solidFill>
            <a:srgbClr val="E2EF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textbox 426"/>
          <p:cNvSpPr/>
          <p:nvPr/>
        </p:nvSpPr>
        <p:spPr>
          <a:xfrm>
            <a:off x="7292544" y="2204719"/>
            <a:ext cx="4114165" cy="1754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6000"/>
              </a:lnSpc>
              <a:tabLst>
                <a:tab pos="314325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三“代”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三提醒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ts val="2053"/>
              </a:lnSpc>
              <a:spcBef>
                <a:spcPts val="519"/>
              </a:spcBef>
              <a:tabLst/>
            </a:pPr>
            <a:r>
              <a:rPr sz="2300" kern="0" spc="-10" baseline="506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带</a:t>
            </a:r>
            <a:r>
              <a:rPr sz="2300" kern="0" spc="-10" baseline="50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引导就诊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</a:t>
            </a:r>
            <a:r>
              <a:rPr sz="1700" b="1" kern="0" spc="-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√提醒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用药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1842"/>
              </a:lnSpc>
              <a:spcBef>
                <a:spcPts val="456"/>
              </a:spcBef>
              <a:tabLst/>
            </a:pPr>
            <a:r>
              <a:rPr sz="1500" b="1" kern="0" spc="1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500" kern="0" spc="-34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1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精准传声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5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500" kern="0" spc="-39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提醒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生活建议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31"/>
              </a:lnSpc>
              <a:spcBef>
                <a:spcPts val="1"/>
              </a:spcBef>
              <a:tabLst/>
            </a:pPr>
            <a:r>
              <a:rPr sz="1500" b="1" kern="0" spc="-1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500" kern="0" spc="-20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1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记录关键信息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500" kern="0" spc="-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500" kern="0" spc="-38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提醒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复诊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736620" y="3136660"/>
            <a:ext cx="2429510" cy="2324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400" kern="0" spc="10" dirty="0">
                <a:solidFill>
                  <a:srgbClr val="60B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#</a:t>
            </a:r>
            <a:r>
              <a:rPr sz="1400" kern="0" spc="260" dirty="0">
                <a:solidFill>
                  <a:srgbClr val="60B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双下肢皮肤发红伴有痛痒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426"/>
              </a:spcBef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多家医院就诊过效果不佳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8000"/>
              </a:lnSpc>
              <a:spcBef>
                <a:spcPts val="428"/>
              </a:spcBef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说不清哪难受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子女未在身边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30" name="textbox 430"/>
          <p:cNvSpPr/>
          <p:nvPr/>
        </p:nvSpPr>
        <p:spPr>
          <a:xfrm>
            <a:off x="736620" y="300451"/>
            <a:ext cx="7388859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3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案例：就医全帮办关爱直达，让省心就医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4292660" y="5522628"/>
            <a:ext cx="7137400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邓女士：“有人帮前帮后，连药怎么吃</a:t>
            </a:r>
            <a:r>
              <a:rPr sz="15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、饭怎么搭都写得明明白白，儿女在外头也放心了，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64539" y="4286250"/>
            <a:ext cx="1530339" cy="850872"/>
          </a:xfrm>
          <a:prstGeom prst="rect">
            <a:avLst/>
          </a:prstGeom>
        </p:spPr>
      </p:pic>
      <p:sp>
        <p:nvSpPr>
          <p:cNvPr id="436" name="textbox 436"/>
          <p:cNvSpPr/>
          <p:nvPr/>
        </p:nvSpPr>
        <p:spPr>
          <a:xfrm>
            <a:off x="4822504" y="2654993"/>
            <a:ext cx="1037589" cy="1273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挂专家号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6000"/>
              </a:lnSpc>
              <a:spcBef>
                <a:spcPts val="454"/>
              </a:spcBef>
              <a:tabLst/>
            </a:pPr>
            <a:r>
              <a:rPr sz="15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</a:t>
            </a:r>
            <a:r>
              <a:rPr sz="1500" kern="0" spc="-4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整理档案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600" b="1" kern="0" spc="-4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</a:t>
            </a: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需求梳理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81019" y="1485923"/>
            <a:ext cx="838200" cy="1308094"/>
          </a:xfrm>
          <a:prstGeom prst="rect">
            <a:avLst/>
          </a:prstGeom>
        </p:spPr>
      </p:pic>
      <p:sp>
        <p:nvSpPr>
          <p:cNvPr id="440" name="textbox 440"/>
          <p:cNvSpPr/>
          <p:nvPr/>
        </p:nvSpPr>
        <p:spPr>
          <a:xfrm>
            <a:off x="2006660" y="1848550"/>
            <a:ext cx="894714" cy="84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ct val="98000"/>
              </a:lnSpc>
              <a:tabLst/>
            </a:pPr>
            <a:r>
              <a:rPr sz="2100" b="1" kern="0" spc="-70" dirty="0">
                <a:solidFill>
                  <a:srgbClr val="B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邓女士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56岁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500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上海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10102880" y="4444110"/>
            <a:ext cx="1558289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62" rIns="0" bIns="0"/>
          <a:lstStyle/>
          <a:p>
            <a:pPr marL="12700" algn="l" rtl="0" eaLnBrk="0">
              <a:lnSpc>
                <a:spcPct val="112000"/>
              </a:lnSpc>
              <a:spcBef>
                <a:spcPts val="5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协助更新健康档案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梳理病情持续关注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6127800" y="4437733"/>
            <a:ext cx="1556385" cy="455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2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111000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4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协助安排预约陪诊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√</a:t>
            </a:r>
            <a:r>
              <a:rPr sz="1300" kern="0" spc="-5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跟进服务履约情况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10721726" y="1261360"/>
            <a:ext cx="866775" cy="532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0" algn="l" rtl="0" eaLnBrk="0">
              <a:lnSpc>
                <a:spcPct val="103000"/>
              </a:lnSpc>
              <a:tabLst/>
            </a:pPr>
            <a:r>
              <a:rPr sz="1700" b="1" kern="0" spc="-9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清晰方案</a:t>
            </a:r>
            <a:r>
              <a:rPr sz="17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安心康复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448" name="picture 4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07100" y="4298937"/>
            <a:ext cx="463539" cy="844562"/>
          </a:xfrm>
          <a:prstGeom prst="rect">
            <a:avLst/>
          </a:prstGeom>
        </p:spPr>
      </p:pic>
      <p:sp>
        <p:nvSpPr>
          <p:cNvPr id="450" name="textbox 450"/>
          <p:cNvSpPr/>
          <p:nvPr/>
        </p:nvSpPr>
        <p:spPr>
          <a:xfrm>
            <a:off x="8029366" y="1318262"/>
            <a:ext cx="853439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3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600" b="1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贴心陪诊</a:t>
            </a:r>
            <a:r>
              <a:rPr sz="16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9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沟通无忧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5336943" y="1319075"/>
            <a:ext cx="841375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100000"/>
              </a:lnSpc>
              <a:tabLst/>
            </a:pPr>
            <a:r>
              <a:rPr sz="1600" b="1" kern="0" spc="-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细心筹备</a:t>
            </a:r>
            <a:r>
              <a:rPr sz="1600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1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没有顾虑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54" name="rect 454"/>
          <p:cNvSpPr/>
          <p:nvPr/>
        </p:nvSpPr>
        <p:spPr>
          <a:xfrm>
            <a:off x="10128259" y="0"/>
            <a:ext cx="1015959" cy="273016"/>
          </a:xfrm>
          <a:prstGeom prst="rect">
            <a:avLst/>
          </a:pr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textbox 456"/>
          <p:cNvSpPr/>
          <p:nvPr/>
        </p:nvSpPr>
        <p:spPr>
          <a:xfrm>
            <a:off x="10115559" y="63265"/>
            <a:ext cx="2066925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83"/>
              </a:lnSpc>
              <a:tabLst>
                <a:tab pos="113664" algn="l"/>
              </a:tabLst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七分“养”</a:t>
            </a:r>
            <a:r>
              <a:rPr sz="1300" kern="0" spc="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三分“治”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58" name="textbox 458"/>
          <p:cNvSpPr/>
          <p:nvPr/>
        </p:nvSpPr>
        <p:spPr>
          <a:xfrm>
            <a:off x="4648179" y="4438850"/>
            <a:ext cx="763269" cy="448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生活管家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主动关怀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460" name="picture 4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10400" y="1282720"/>
            <a:ext cx="558759" cy="520659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343400" y="1282720"/>
            <a:ext cx="552419" cy="520659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658380" y="1282720"/>
            <a:ext cx="546079" cy="520659"/>
          </a:xfrm>
          <a:prstGeom prst="rect">
            <a:avLst/>
          </a:prstGeom>
        </p:spPr>
      </p:pic>
      <p:sp>
        <p:nvSpPr>
          <p:cNvPr id="466" name="textbox 466"/>
          <p:cNvSpPr/>
          <p:nvPr/>
        </p:nvSpPr>
        <p:spPr>
          <a:xfrm>
            <a:off x="4883139" y="2190719"/>
            <a:ext cx="920750" cy="260984"/>
          </a:xfrm>
          <a:prstGeom prst="rect">
            <a:avLst/>
          </a:prstGeom>
          <a:solidFill>
            <a:srgbClr val="E2EF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5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三帮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picture 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70" name="textbox 470"/>
          <p:cNvSpPr/>
          <p:nvPr/>
        </p:nvSpPr>
        <p:spPr>
          <a:xfrm>
            <a:off x="1797080" y="4477018"/>
            <a:ext cx="10184765" cy="2329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9600" algn="l" rtl="0" eaLnBrk="0">
              <a:lnSpc>
                <a:spcPts val="1450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根据@61岁宋奶奶真实呈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现</a:t>
            </a:r>
            <a:endParaRPr sz="1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3"/>
              </a:lnSpc>
              <a:tabLst/>
            </a:pP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总最期：平安居家养老市场推动团队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|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放事上人么: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宋</a:t>
            </a:r>
            <a:r>
              <a:rPr sz="400" kern="0" spc="1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奶  |</a:t>
            </a:r>
            <a:r>
              <a:rPr sz="400" kern="0" spc="12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友协出期：朱奶奶一家 |</a:t>
            </a:r>
            <a:r>
              <a:rPr sz="400" kern="0" spc="15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全5效市：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山东青岛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1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472" name="textbox 472"/>
          <p:cNvSpPr/>
          <p:nvPr/>
        </p:nvSpPr>
        <p:spPr>
          <a:xfrm>
            <a:off x="6121359" y="2057400"/>
            <a:ext cx="4794884" cy="1930400"/>
          </a:xfrm>
          <a:prstGeom prst="rect">
            <a:avLst/>
          </a:prstGeom>
          <a:solidFill>
            <a:srgbClr val="FBFD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509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4300" kern="0" spc="-24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观看一段视频</a:t>
            </a:r>
            <a:endParaRPr sz="4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10335" algn="l" rtl="0" eaLnBrk="0">
              <a:lnSpc>
                <a:spcPct val="96000"/>
              </a:lnSpc>
              <a:tabLst/>
            </a:pPr>
            <a:r>
              <a:rPr sz="4300" b="1" kern="0" spc="-26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了解更多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3790960" y="2001614"/>
            <a:ext cx="1060450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2200" kern="0" spc="-21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平安</a:t>
            </a:r>
            <a:r>
              <a:rPr sz="2200" kern="0" spc="-20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管</a:t>
            </a:r>
            <a:r>
              <a:rPr sz="2200" kern="0" spc="-6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家</a:t>
            </a:r>
            <a:endParaRPr sz="2200" dirty="0">
              <a:latin typeface="LiSu"/>
              <a:ea typeface="LiSu"/>
              <a:cs typeface="LiSu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3730595" y="1696096"/>
            <a:ext cx="899160" cy="299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900" b="1" i="1" kern="0" spc="-18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我和我</a:t>
            </a:r>
            <a:r>
              <a:rPr sz="18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</a:t>
            </a:r>
            <a:endParaRPr sz="1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picture 4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76980" y="3181357"/>
            <a:ext cx="5359359" cy="1517675"/>
          </a:xfrm>
          <a:prstGeom prst="rect">
            <a:avLst/>
          </a:prstGeom>
        </p:spPr>
      </p:pic>
      <p:sp>
        <p:nvSpPr>
          <p:cNvPr id="482" name="textbox 482"/>
          <p:cNvSpPr/>
          <p:nvPr/>
        </p:nvSpPr>
        <p:spPr>
          <a:xfrm>
            <a:off x="5823000" y="1937406"/>
            <a:ext cx="5549265" cy="269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5500" kern="0" spc="-60" dirty="0">
                <a:solidFill>
                  <a:srgbClr val="C06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现场体验医生管家</a:t>
            </a:r>
            <a:endParaRPr sz="5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26564" algn="l" rtl="0" eaLnBrk="0">
              <a:lnSpc>
                <a:spcPct val="97000"/>
              </a:lnSpc>
              <a:spcBef>
                <a:spcPts val="1022"/>
              </a:spcBef>
              <a:tabLst/>
            </a:pPr>
            <a:r>
              <a:rPr sz="3400" kern="0" spc="-19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呼叫医生管家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3400" kern="0" spc="-150" dirty="0">
                <a:solidFill>
                  <a:srgbClr val="7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咨询应该怎样控制高血压?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1295379" y="2321039"/>
            <a:ext cx="2415539" cy="751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2"/>
              </a:lnSpc>
              <a:tabLst/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02月21日星期二二月初二上午10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:42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83000"/>
              </a:lnSpc>
              <a:spcBef>
                <a:spcPts val="249"/>
              </a:spcBef>
              <a:tabLst/>
            </a:pPr>
            <a:r>
              <a:rPr sz="800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您有</a:t>
            </a:r>
            <a:r>
              <a:rPr sz="800" kern="0" spc="70" dirty="0">
                <a:solidFill>
                  <a:srgbClr val="D07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800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条未读消息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3000"/>
              </a:lnSpc>
              <a:spcBef>
                <a:spcPts val="5"/>
              </a:spcBef>
              <a:tabLst/>
            </a:pPr>
            <a:r>
              <a:rPr sz="7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全面健康守护服务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68450" algn="l" rtl="0" eaLnBrk="0">
              <a:lnSpc>
                <a:spcPts val="625"/>
              </a:lnSpc>
              <a:spcBef>
                <a:spcPts val="4"/>
              </a:spcBef>
              <a:tabLst/>
            </a:pPr>
            <a:r>
              <a:rPr sz="5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适合关注居家安全的朋友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2381199" y="3553818"/>
            <a:ext cx="1812289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6"/>
              </a:lnSpc>
              <a:tabLst/>
            </a:pPr>
            <a:r>
              <a:rPr sz="1100" kern="0" spc="0" baseline="24595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打卡</a:t>
            </a:r>
            <a:r>
              <a:rPr sz="7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平安药箱</a:t>
            </a:r>
            <a:r>
              <a:rPr sz="9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居家守护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1695399" y="3459005"/>
            <a:ext cx="45339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52"/>
              </a:lnSpc>
              <a:tabLst/>
            </a:pPr>
            <a:r>
              <a:rPr sz="600" kern="0" spc="2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上午</a:t>
            </a:r>
            <a:r>
              <a:rPr sz="600" kern="0" spc="20" dirty="0">
                <a:solidFill>
                  <a:srgbClr val="7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11:30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60000"/>
              </a:lnSpc>
              <a:spcBef>
                <a:spcPts val="9"/>
              </a:spcBef>
              <a:tabLst/>
            </a:pPr>
            <a:r>
              <a:rPr sz="800" kern="0" spc="3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午餐打卡</a:t>
            </a:r>
            <a:r>
              <a:rPr sz="800" kern="0" spc="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2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</a:t>
            </a:r>
            <a:r>
              <a:rPr sz="600" kern="0" spc="-9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2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午</a:t>
            </a:r>
            <a:r>
              <a:rPr sz="600" kern="0" spc="-20" dirty="0">
                <a:solidFill>
                  <a:srgbClr val="607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04:14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3"/>
              </a:lnSpc>
              <a:spcBef>
                <a:spcPts val="2"/>
              </a:spcBef>
              <a:tabLst/>
            </a:pPr>
            <a:r>
              <a:rPr sz="800" kern="0" spc="30" dirty="0">
                <a:solidFill>
                  <a:srgbClr val="6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血压管理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11766601" y="6626430"/>
            <a:ext cx="198120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picture 4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740417" y="665259"/>
            <a:ext cx="5207634" cy="4149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9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7000"/>
              </a:lnSpc>
              <a:tabLst/>
            </a:pPr>
            <a:r>
              <a:rPr sz="34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客户心声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7000"/>
              </a:lnSpc>
              <a:spcBef>
                <a:spcPts val="1146"/>
              </a:spcBef>
              <a:tabLst/>
            </a:pPr>
            <a:r>
              <a:rPr sz="3800" b="1" kern="0" spc="-20" dirty="0">
                <a:solidFill>
                  <a:srgbClr val="B06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故事分享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257175" algn="l" rtl="0" eaLnBrk="0">
              <a:lnSpc>
                <a:spcPct val="97000"/>
              </a:lnSpc>
              <a:spcBef>
                <a:spcPts val="1920"/>
              </a:spcBef>
              <a:tabLst/>
            </a:pPr>
            <a:r>
              <a:rPr sz="3800" b="1" kern="0" spc="-120" dirty="0">
                <a:solidFill>
                  <a:srgbClr val="B06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“我和我的平安管家</a:t>
            </a:r>
            <a:r>
              <a:rPr sz="3800" b="1" kern="0" spc="-130" dirty="0">
                <a:solidFill>
                  <a:srgbClr val="B06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3390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900" kern="0" spc="8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互动</a:t>
            </a:r>
            <a:r>
              <a:rPr sz="1900" kern="0" spc="740" dirty="0">
                <a:solidFill>
                  <a:srgbClr val="D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496" name="picture 4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70660" y="1600177"/>
            <a:ext cx="3937041" cy="4127555"/>
          </a:xfrm>
          <a:prstGeom prst="rect">
            <a:avLst/>
          </a:prstGeom>
        </p:spPr>
      </p:pic>
      <p:sp>
        <p:nvSpPr>
          <p:cNvPr id="498" name="textbox 498"/>
          <p:cNvSpPr/>
          <p:nvPr/>
        </p:nvSpPr>
        <p:spPr>
          <a:xfrm>
            <a:off x="11766601" y="6610453"/>
            <a:ext cx="204470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22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box 500"/>
          <p:cNvSpPr/>
          <p:nvPr/>
        </p:nvSpPr>
        <p:spPr>
          <a:xfrm>
            <a:off x="2755859" y="321088"/>
            <a:ext cx="9215119" cy="6487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400" b="1" kern="0" spc="-140" dirty="0">
                <a:solidFill>
                  <a:srgbClr val="C07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特别提示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6000"/>
              </a:lnSpc>
              <a:spcBef>
                <a:spcPts val="556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1)整体介绍：对于购买中国平安人寿保险股份有限公司(简称“平安人寿”)保险产品达标居家会员的客户，将获得相应的平安居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家权益。平安居家权益可由居家会员在约定范围内指定权益人享受，平安居家权益服务包含特定健康管理服务、平安居家咨询服务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及平安管家平台会员资格。其中健康管理服务包括医生管家、慢病防控、重疾专案管理等。平安居家咨询服务为线上坐席服务，客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户可以拨打电话，或使用智能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设备进行咨询。平安管家平台会员资格是指由合作方平安健康互联网股份有限公司(简称“平安好医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生”)运营的、仅向特定成员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开放的平安管家平台的注册资格，权益人获得注册资格并正式成为平安管家平台会员后，可在平台上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自行下单或通过管家协助对接平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安居家服务。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5000"/>
              </a:lnSpc>
              <a:spcBef>
                <a:spcPts val="323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2)服务主体：本课件中所涉及的平安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居家服务由平安健康互联网股份有限公司(简称“平安好医生”)及/或具有经营资质的第三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方服务商提供，其中付费服务客户可按需自主选购。相关健康管理方案仅供参考。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7000"/>
              </a:lnSpc>
              <a:spcBef>
                <a:spcPts val="369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3)服务内容：本课件仅用于向您介绍平安居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家服务，不构成任何形式的要约或要约邀请。具体服务内容、服务流程及付费服务价格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等请以平安管家服务号/小程序最新信息披露为准，您可以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联系您的管家了解详情。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7000"/>
              </a:lnSpc>
              <a:spcBef>
                <a:spcPts val="369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4)服务价格：平安管家平台内的付费服务，相关收费标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准会因服务商或服务项目不同而有所差异，客户享受服务时需支付服务商相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应对价，具体以客户下单确认时实际支付金额为准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4000"/>
              </a:lnSpc>
              <a:spcBef>
                <a:spcPts val="381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5)服务调整：公司有权根据客户需求及公司规划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、市场环境等因素，在法律法规允许的范围内，对权益内容及使用规则等相应予以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调整；各地区提供的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服务事项存在或可能存在差异，合作方平安健康及其服务商所提供的平安居家服务或有调整，具体请以平安管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家服务号/小程序最新信息披露为准。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34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6)服务城市：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4000"/>
              </a:lnSpc>
              <a:spcBef>
                <a:spcPts val="310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2026年4月，平安居家服务已线下覆盖120城，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未来将逐步拓展更多城市。不同城市的服务项目可能会有差异，具体请以平安管家服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务号/小程序最新信息披露以及进线咨询管家的最新回复为准。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32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平安居家线下服务具体开放城市：北京、东莞、佛山、广州、郑州、武汉、长沙、南京、沈阳、宁波、青岛、济南、西安、上海、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294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深圳、成都、苏州、天津、杭州、重庆、无锡、南通、常州、盐城、嘉兴、绍兴、金华、台州、惠州、珠海、江门、中山、厦门、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32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福州、贵阳、合肥、昆明、石家庄、兰州、南宁、长春、太原、南昌、大连、哈尔滨、泉州、温州、呼和浩特、乌鲁木齐、海口、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274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银川、西宁、烟台、南阳、保定、廊坊、临沂、淄博、潍坊、阜阳、徐州、扬州、汕头、湛江、包头、赤峰、威海、东营、邯郸、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5000"/>
              </a:lnSpc>
              <a:spcBef>
                <a:spcPts val="11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秦皇岛、唐山、泰州、大庆、遵义、许昌、济宁、滨州、日照、镇江、丽水、襄阳、新乡、沧州、吉林、鞍山、泰安、湖州、洛阳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邢台、宜昌、荆州、芜湖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、鄂尔多斯、株洲、绵阳、泸州、齐齐哈尔、锦州、延边州、漳州、德阳、大同、临汾、聊城、盘锦、营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□、朝阳、辽阳、丹东、赣州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、岳阳、湘潭、衡阳、十堰、佳木斯、牡丹江、焦作、揭阳、马鞍山、三亚。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254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7)平安居家服务不属于保险合同的全部或部分，用户使用付费服务时需支付实际服务提供方相应对价，具体以用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户购买服务时与相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71"/>
              </a:lnSpc>
              <a:spcBef>
                <a:spcPts val="172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应服务商之间的订单约定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为准。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23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502" name="picture 5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4240" y="2539997"/>
            <a:ext cx="1790638" cy="18541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picture 5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06" name="textbox 506"/>
          <p:cNvSpPr/>
          <p:nvPr/>
        </p:nvSpPr>
        <p:spPr>
          <a:xfrm>
            <a:off x="3111499" y="1025841"/>
            <a:ext cx="6049645" cy="1837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6100" kern="0" spc="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添一份平安居家</a:t>
            </a:r>
            <a:endParaRPr sz="6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8020"/>
              </a:lnSpc>
              <a:tabLst/>
            </a:pPr>
            <a:r>
              <a:rPr sz="6100" kern="0" spc="6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多一份健康幸福</a:t>
            </a:r>
            <a:endParaRPr sz="6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2026-05-15T10:09:32Z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2026-05-15T10:09:47</vt:filetime>
  </property>
  <property fmtid="{D5CDD505-2E9C-101B-9397-08002B2CF9AE}" pid="4" name="UsrData">
    <vt:lpwstr>6a068053744b370001dcc11dwl</vt:lpwstr>
  </property>
</Properties>
</file>